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57" r:id="rId5"/>
    <p:sldId id="1288" r:id="rId6"/>
    <p:sldId id="1294" r:id="rId7"/>
    <p:sldId id="1296" r:id="rId8"/>
    <p:sldId id="1306" r:id="rId9"/>
    <p:sldId id="1307" r:id="rId10"/>
    <p:sldId id="1292" r:id="rId11"/>
    <p:sldId id="1290" r:id="rId12"/>
    <p:sldId id="1297" r:id="rId13"/>
    <p:sldId id="1293" r:id="rId14"/>
    <p:sldId id="1291" r:id="rId15"/>
    <p:sldId id="279" r:id="rId16"/>
    <p:sldId id="1309" r:id="rId17"/>
    <p:sldId id="1299" r:id="rId18"/>
    <p:sldId id="1298" r:id="rId19"/>
    <p:sldId id="1289" r:id="rId20"/>
    <p:sldId id="1308" r:id="rId21"/>
    <p:sldId id="1300" r:id="rId22"/>
    <p:sldId id="1301" r:id="rId23"/>
    <p:sldId id="1302" r:id="rId24"/>
    <p:sldId id="1303" r:id="rId25"/>
    <p:sldId id="1304" r:id="rId26"/>
    <p:sldId id="1305" r:id="rId27"/>
    <p:sldId id="256" r:id="rId28"/>
    <p:sldId id="258" r:id="rId29"/>
    <p:sldId id="285" r:id="rId30"/>
    <p:sldId id="284" r:id="rId31"/>
    <p:sldId id="268" r:id="rId32"/>
    <p:sldId id="274" r:id="rId33"/>
    <p:sldId id="281" r:id="rId3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 autoAdjust="0"/>
    <p:restoredTop sz="94830" autoAdjust="0"/>
  </p:normalViewPr>
  <p:slideViewPr>
    <p:cSldViewPr showGuides="1">
      <p:cViewPr varScale="1">
        <p:scale>
          <a:sx n="102" d="100"/>
          <a:sy n="102" d="100"/>
        </p:scale>
        <p:origin x="216" y="59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latin typeface="+mn-lt"/>
              <a:ea typeface="+mn-ea"/>
              <a:cs typeface="+mn-cs"/>
            </a:rPr>
            <a:t>Expand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/>
            <a:t>Foster collaborative </a:t>
          </a:r>
          <a:br>
            <a:rPr lang="en-US" sz="1200" dirty="0"/>
          </a:br>
          <a:r>
            <a:rPr lang="en-US" sz="1200" dirty="0"/>
            <a:t>growth</a:t>
          </a:r>
          <a:endParaRPr lang="en-US" sz="1200" b="0" dirty="0">
            <a:latin typeface="+mn-lt"/>
          </a:endParaRP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Enhance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/>
            <a:t>Ensure a tailored and user-focused experience</a:t>
          </a:r>
          <a:endParaRPr lang="en-US" sz="1200" b="0" dirty="0">
            <a:latin typeface="+mn-lt"/>
          </a:endParaRP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Explore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/>
            <a:t>Capitalize on emerging global markets</a:t>
          </a:r>
          <a:endParaRPr lang="en-US" sz="1200" b="0" dirty="0"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 custLinFactNeighborX="65647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ScaleX="81789" custLinFactNeighborX="8021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 custLinFactX="314414" custLinFactNeighborX="400000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 custLinFactX="9543" custLinFactNeighborX="100000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25451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 custLinFactX="600000" custLinFactNeighborX="60570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 custLinFactX="15526" custLinFactNeighborX="100000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ScaleX="78587" custLinFactNeighborX="1231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 custLinFactX="600000" custLinFactNeighborX="673669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905000"/>
          <a:ext cx="54864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318191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349317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787494" y="777239"/>
          <a:ext cx="1868259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Foster collaborative </a:t>
          </a:r>
          <a:br>
            <a:rPr lang="en-US" sz="1200" kern="1200" dirty="0"/>
          </a:br>
          <a:r>
            <a:rPr lang="en-US" sz="1200" kern="1200" dirty="0"/>
            <a:t>growth</a:t>
          </a:r>
          <a:endParaRPr lang="en-US" sz="1200" b="0" kern="1200" dirty="0">
            <a:latin typeface="+mn-lt"/>
          </a:endParaRPr>
        </a:p>
      </dsp:txBody>
      <dsp:txXfrm>
        <a:off x="787494" y="777239"/>
        <a:ext cx="1868259" cy="1127760"/>
      </dsp:txXfrm>
    </dsp:sp>
    <dsp:sp modelId="{8E3FB235-DF38-476B-9A0E-B1E583D50944}">
      <dsp:nvSpPr>
        <dsp:cNvPr id="0" name=""/>
        <dsp:cNvSpPr/>
      </dsp:nvSpPr>
      <dsp:spPr>
        <a:xfrm>
          <a:off x="787494" y="380999"/>
          <a:ext cx="1868259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latin typeface="+mn-lt"/>
              <a:ea typeface="+mn-ea"/>
              <a:cs typeface="+mn-cs"/>
            </a:rPr>
            <a:t>Expand</a:t>
          </a:r>
        </a:p>
      </dsp:txBody>
      <dsp:txXfrm>
        <a:off x="787494" y="380999"/>
        <a:ext cx="1868259" cy="396240"/>
      </dsp:txXfrm>
    </dsp:sp>
    <dsp:sp modelId="{9AA05CE5-209F-4AD9-BE2C-2A69F76DA8F4}">
      <dsp:nvSpPr>
        <dsp:cNvPr id="0" name=""/>
        <dsp:cNvSpPr/>
      </dsp:nvSpPr>
      <dsp:spPr>
        <a:xfrm>
          <a:off x="455352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418411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859230" y="309078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890356" y="312191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2344752" y="1905000"/>
          <a:ext cx="2284243" cy="112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Ensure a tailored and user-focused experience</a:t>
          </a:r>
          <a:endParaRPr lang="en-US" sz="1200" b="0" kern="1200" dirty="0">
            <a:latin typeface="+mn-lt"/>
          </a:endParaRPr>
        </a:p>
      </dsp:txBody>
      <dsp:txXfrm>
        <a:off x="2344752" y="1905000"/>
        <a:ext cx="2284243" cy="1127759"/>
      </dsp:txXfrm>
    </dsp:sp>
    <dsp:sp modelId="{223C5207-4FA2-4A6C-8F43-20BD55767C99}">
      <dsp:nvSpPr>
        <dsp:cNvPr id="0" name=""/>
        <dsp:cNvSpPr/>
      </dsp:nvSpPr>
      <dsp:spPr>
        <a:xfrm>
          <a:off x="2344752" y="303275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Enhance</a:t>
          </a:r>
        </a:p>
      </dsp:txBody>
      <dsp:txXfrm>
        <a:off x="2344752" y="3032759"/>
        <a:ext cx="2284243" cy="396240"/>
      </dsp:txXfrm>
    </dsp:sp>
    <dsp:sp modelId="{4FE5EB5D-4CEF-4D0D-9394-0534E61844BE}">
      <dsp:nvSpPr>
        <dsp:cNvPr id="0" name=""/>
        <dsp:cNvSpPr/>
      </dsp:nvSpPr>
      <dsp:spPr>
        <a:xfrm>
          <a:off x="1999324" y="1905000"/>
          <a:ext cx="0" cy="112775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962383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3250043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3281169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3656248" y="777239"/>
          <a:ext cx="1795118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Capitalize on emerging global markets</a:t>
          </a:r>
          <a:endParaRPr lang="en-US" sz="1200" b="0" kern="1200" dirty="0">
            <a:latin typeface="+mn-lt"/>
          </a:endParaRPr>
        </a:p>
      </dsp:txBody>
      <dsp:txXfrm>
        <a:off x="3656248" y="777239"/>
        <a:ext cx="1795118" cy="1127760"/>
      </dsp:txXfrm>
    </dsp:sp>
    <dsp:sp modelId="{2D6C7916-1130-46A8-833B-A6278CBD2192}">
      <dsp:nvSpPr>
        <dsp:cNvPr id="0" name=""/>
        <dsp:cNvSpPr/>
      </dsp:nvSpPr>
      <dsp:spPr>
        <a:xfrm>
          <a:off x="3656248" y="380999"/>
          <a:ext cx="1795118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Explore</a:t>
          </a:r>
        </a:p>
      </dsp:txBody>
      <dsp:txXfrm>
        <a:off x="3656248" y="380999"/>
        <a:ext cx="1795118" cy="396240"/>
      </dsp:txXfrm>
    </dsp:sp>
    <dsp:sp modelId="{4D953791-5C2F-4A75-A8F4-6ED7EAB5E015}">
      <dsp:nvSpPr>
        <dsp:cNvPr id="0" name=""/>
        <dsp:cNvSpPr/>
      </dsp:nvSpPr>
      <dsp:spPr>
        <a:xfrm>
          <a:off x="3390896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3353955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8/27/25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8/27/25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xagon 21">
            <a:extLst>
              <a:ext uri="{FF2B5EF4-FFF2-40B4-BE49-F238E27FC236}">
                <a16:creationId xmlns:a16="http://schemas.microsoft.com/office/drawing/2014/main" id="{E782D618-E31A-46E2-B2EF-17C9DAB0E97E}"/>
              </a:ext>
            </a:extLst>
          </p:cNvPr>
          <p:cNvSpPr/>
          <p:nvPr userDrawn="1"/>
        </p:nvSpPr>
        <p:spPr>
          <a:xfrm rot="5400000">
            <a:off x="1119900" y="2982199"/>
            <a:ext cx="1554480" cy="1371243"/>
          </a:xfrm>
          <a:prstGeom prst="hexagon">
            <a:avLst>
              <a:gd name="adj" fmla="val 29673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bg1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531259DD-64CB-4DA1-AD6D-175D1BC0C080}"/>
              </a:ext>
            </a:extLst>
          </p:cNvPr>
          <p:cNvSpPr/>
          <p:nvPr userDrawn="1"/>
        </p:nvSpPr>
        <p:spPr>
          <a:xfrm rot="5400000">
            <a:off x="3187522" y="2821858"/>
            <a:ext cx="1554480" cy="1371243"/>
          </a:xfrm>
          <a:prstGeom prst="hexagon">
            <a:avLst>
              <a:gd name="adj" fmla="val 29673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bg1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949D4368-1CD6-4BEA-A610-DE42970EA0EA}"/>
              </a:ext>
            </a:extLst>
          </p:cNvPr>
          <p:cNvSpPr/>
          <p:nvPr userDrawn="1"/>
        </p:nvSpPr>
        <p:spPr>
          <a:xfrm rot="5400000">
            <a:off x="5240489" y="2982199"/>
            <a:ext cx="1554480" cy="1371243"/>
          </a:xfrm>
          <a:prstGeom prst="hexagon">
            <a:avLst>
              <a:gd name="adj" fmla="val 29673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bg1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ACAABC50-D387-484A-AA0F-EB04645F2116}"/>
              </a:ext>
            </a:extLst>
          </p:cNvPr>
          <p:cNvSpPr/>
          <p:nvPr userDrawn="1"/>
        </p:nvSpPr>
        <p:spPr>
          <a:xfrm rot="5400000">
            <a:off x="7322452" y="2821858"/>
            <a:ext cx="1554480" cy="1371243"/>
          </a:xfrm>
          <a:prstGeom prst="hexagon">
            <a:avLst>
              <a:gd name="adj" fmla="val 29673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bg1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A9C2DD4D-CD5E-405E-A1A0-E8D0CD03D43F}"/>
              </a:ext>
            </a:extLst>
          </p:cNvPr>
          <p:cNvSpPr/>
          <p:nvPr userDrawn="1"/>
        </p:nvSpPr>
        <p:spPr>
          <a:xfrm rot="5400000">
            <a:off x="9375419" y="2982199"/>
            <a:ext cx="1554480" cy="1371243"/>
          </a:xfrm>
          <a:prstGeom prst="hexagon">
            <a:avLst>
              <a:gd name="adj" fmla="val 29673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chemeClr val="bg1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F9F8B1-6BAC-4AD8-A471-D0C2B6FC88EB}"/>
              </a:ext>
            </a:extLst>
          </p:cNvPr>
          <p:cNvGrpSpPr/>
          <p:nvPr userDrawn="1"/>
        </p:nvGrpSpPr>
        <p:grpSpPr>
          <a:xfrm>
            <a:off x="883485" y="2433382"/>
            <a:ext cx="10281804" cy="2311399"/>
            <a:chOff x="764773" y="2273300"/>
            <a:chExt cx="10284482" cy="2311399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8B00A50-8F71-4989-BC6C-70721A8EDF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4773" y="2821940"/>
              <a:ext cx="1" cy="1357623"/>
            </a:xfrm>
            <a:prstGeom prst="line">
              <a:avLst/>
            </a:prstGeom>
            <a:ln w="101600" cap="rnd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D9CB32-4FF6-46E7-AD10-4891F90C114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64773" y="2273300"/>
              <a:ext cx="1023052" cy="548640"/>
            </a:xfrm>
            <a:prstGeom prst="line">
              <a:avLst/>
            </a:prstGeom>
            <a:ln w="101600" cap="rnd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D4C385E-0386-47EB-A5CD-8B5E6A7F9F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87825" y="2273300"/>
              <a:ext cx="1023052" cy="548640"/>
            </a:xfrm>
            <a:prstGeom prst="line">
              <a:avLst/>
            </a:prstGeom>
            <a:ln w="1016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A247777-17E8-47B0-9C02-A34C1E5702AD}"/>
                </a:ext>
              </a:extLst>
            </p:cNvPr>
            <p:cNvGrpSpPr/>
            <p:nvPr userDrawn="1"/>
          </p:nvGrpSpPr>
          <p:grpSpPr>
            <a:xfrm rot="10800000">
              <a:off x="2809142" y="2821940"/>
              <a:ext cx="2068161" cy="1762759"/>
              <a:chOff x="548642" y="2133600"/>
              <a:chExt cx="2068161" cy="1762759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CB83C0A-AF62-4845-9EB4-5D06A0CF437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548642" y="2133600"/>
                <a:ext cx="1023052" cy="548640"/>
              </a:xfrm>
              <a:prstGeom prst="line">
                <a:avLst/>
              </a:prstGeom>
              <a:ln w="1016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2048AA9-3DFF-4A3E-8093-E7F3FB7D19E3}"/>
                  </a:ext>
                </a:extLst>
              </p:cNvPr>
              <p:cNvGrpSpPr/>
              <p:nvPr userDrawn="1"/>
            </p:nvGrpSpPr>
            <p:grpSpPr>
              <a:xfrm flipH="1">
                <a:off x="1571694" y="2133600"/>
                <a:ext cx="1045109" cy="1762759"/>
                <a:chOff x="394504" y="2235200"/>
                <a:chExt cx="1045109" cy="1762759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392E648-DDB8-4745-B06E-3D83FB0F1F5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rot="10800000" flipV="1">
                  <a:off x="394504" y="2823211"/>
                  <a:ext cx="22057" cy="1174748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1478A9A5-3601-4DBF-99BF-C2F33B3CE6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416561" y="2235200"/>
                  <a:ext cx="1023052" cy="548640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0C33B8E-B78E-4624-BE44-B396658EC6B5}"/>
                </a:ext>
              </a:extLst>
            </p:cNvPr>
            <p:cNvGrpSpPr/>
            <p:nvPr userDrawn="1"/>
          </p:nvGrpSpPr>
          <p:grpSpPr>
            <a:xfrm>
              <a:off x="4877303" y="2273300"/>
              <a:ext cx="4114800" cy="2311399"/>
              <a:chOff x="546372" y="2133600"/>
              <a:chExt cx="4114800" cy="2311399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36948F02-2A58-4B70-878D-138873EF5487}"/>
                  </a:ext>
                </a:extLst>
              </p:cNvPr>
              <p:cNvGrpSpPr/>
              <p:nvPr userDrawn="1"/>
            </p:nvGrpSpPr>
            <p:grpSpPr>
              <a:xfrm>
                <a:off x="546372" y="2133600"/>
                <a:ext cx="2048374" cy="1755137"/>
                <a:chOff x="546372" y="2133600"/>
                <a:chExt cx="2048374" cy="1755137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2374C11E-A36A-4A02-91FB-1E2A147716EF}"/>
                    </a:ext>
                  </a:extLst>
                </p:cNvPr>
                <p:cNvGrpSpPr/>
                <p:nvPr userDrawn="1"/>
              </p:nvGrpSpPr>
              <p:grpSpPr>
                <a:xfrm>
                  <a:off x="546372" y="2133600"/>
                  <a:ext cx="1025322" cy="1755137"/>
                  <a:chOff x="414292" y="2235200"/>
                  <a:chExt cx="1025322" cy="1755137"/>
                </a:xfrm>
              </p:grpSpPr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A7659665-8409-4C94-81A8-ED44F07985C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414292" y="2783840"/>
                    <a:ext cx="2268" cy="1206497"/>
                  </a:xfrm>
                  <a:prstGeom prst="line">
                    <a:avLst/>
                  </a:prstGeom>
                  <a:ln w="10160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8CC43616-6493-4804-BA75-1DAA7A1D8B18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416562" y="2235200"/>
                    <a:ext cx="1023052" cy="548640"/>
                  </a:xfrm>
                  <a:prstGeom prst="line">
                    <a:avLst/>
                  </a:prstGeom>
                  <a:ln w="10160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995EA5E0-F8C9-46F5-9994-0DBB5532E9C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571694" y="2133600"/>
                  <a:ext cx="1023052" cy="548640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07CCC38F-9AFC-4443-AF2B-8B972EE312B9}"/>
                  </a:ext>
                </a:extLst>
              </p:cNvPr>
              <p:cNvGrpSpPr/>
              <p:nvPr userDrawn="1"/>
            </p:nvGrpSpPr>
            <p:grpSpPr>
              <a:xfrm rot="10800000">
                <a:off x="2590206" y="2722878"/>
                <a:ext cx="2070966" cy="1722121"/>
                <a:chOff x="548642" y="2133600"/>
                <a:chExt cx="2070966" cy="1722121"/>
              </a:xfrm>
            </p:grpSpPr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5D60560-17BE-42C4-956A-FD0CCF2B311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548642" y="2133600"/>
                  <a:ext cx="1023052" cy="548640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314ADB2B-6BAC-4187-9AD6-234699323C6F}"/>
                    </a:ext>
                  </a:extLst>
                </p:cNvPr>
                <p:cNvGrpSpPr/>
                <p:nvPr userDrawn="1"/>
              </p:nvGrpSpPr>
              <p:grpSpPr>
                <a:xfrm flipH="1">
                  <a:off x="1571694" y="2133600"/>
                  <a:ext cx="1047914" cy="1722121"/>
                  <a:chOff x="391699" y="2235200"/>
                  <a:chExt cx="1047914" cy="1722121"/>
                </a:xfrm>
              </p:grpSpPr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3AA32475-F311-40BF-84DB-2FBFF05A09E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391699" y="2791460"/>
                    <a:ext cx="29076" cy="1165861"/>
                  </a:xfrm>
                  <a:prstGeom prst="line">
                    <a:avLst/>
                  </a:prstGeom>
                  <a:ln w="10160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8076BDAC-837A-46AB-939A-33B4CAC4432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416561" y="2235200"/>
                    <a:ext cx="1023052" cy="548640"/>
                  </a:xfrm>
                  <a:prstGeom prst="line">
                    <a:avLst/>
                  </a:prstGeom>
                  <a:ln w="10160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1A353AA-3B37-493F-A75A-FBE55A7FEAC3}"/>
                </a:ext>
              </a:extLst>
            </p:cNvPr>
            <p:cNvGrpSpPr/>
            <p:nvPr userDrawn="1"/>
          </p:nvGrpSpPr>
          <p:grpSpPr>
            <a:xfrm>
              <a:off x="8992103" y="2273300"/>
              <a:ext cx="2057152" cy="1851337"/>
              <a:chOff x="547757" y="2133600"/>
              <a:chExt cx="2057152" cy="1851337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E7AC040A-1737-484C-8CEA-2ADF0DBFE9FB}"/>
                  </a:ext>
                </a:extLst>
              </p:cNvPr>
              <p:cNvGrpSpPr/>
              <p:nvPr userDrawn="1"/>
            </p:nvGrpSpPr>
            <p:grpSpPr>
              <a:xfrm>
                <a:off x="547757" y="2133600"/>
                <a:ext cx="1023937" cy="1762759"/>
                <a:chOff x="415677" y="2235200"/>
                <a:chExt cx="1023937" cy="1762759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9CD9887E-CE43-4192-9065-D2A75389118E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15677" y="2783840"/>
                  <a:ext cx="1" cy="1214119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3D14A159-829D-4CE4-9A8E-E2C0CBD3F3F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416562" y="2235200"/>
                  <a:ext cx="1023052" cy="548640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31D099CA-B8FD-4314-AEDD-819F910D5BDB}"/>
                  </a:ext>
                </a:extLst>
              </p:cNvPr>
              <p:cNvGrpSpPr/>
              <p:nvPr userDrawn="1"/>
            </p:nvGrpSpPr>
            <p:grpSpPr>
              <a:xfrm flipH="1">
                <a:off x="1571694" y="2133600"/>
                <a:ext cx="1033215" cy="1851337"/>
                <a:chOff x="406398" y="2235200"/>
                <a:chExt cx="1033215" cy="1851337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C02C6F16-E0CD-428F-BD21-449948C9D67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406398" y="2783840"/>
                  <a:ext cx="10163" cy="1302697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E6C222D2-654F-4BD1-A0BD-34C233CD23D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416561" y="2235200"/>
                  <a:ext cx="1023052" cy="548640"/>
                </a:xfrm>
                <a:prstGeom prst="line">
                  <a:avLst/>
                </a:prstGeom>
                <a:ln w="1016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EA93BAA0-B72B-4BFD-BCF9-4608ADE3AC72}"/>
              </a:ext>
            </a:extLst>
          </p:cNvPr>
          <p:cNvSpPr/>
          <p:nvPr userDrawn="1"/>
        </p:nvSpPr>
        <p:spPr>
          <a:xfrm>
            <a:off x="659700" y="4111045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7EC39C5-C4D5-4BE2-80A8-355FC3ECC12F}"/>
              </a:ext>
            </a:extLst>
          </p:cNvPr>
          <p:cNvSpPr/>
          <p:nvPr userDrawn="1"/>
        </p:nvSpPr>
        <p:spPr>
          <a:xfrm>
            <a:off x="1677487" y="2268282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5775AD5-ACEB-4CBE-BD90-53D7E05FA5AC}"/>
              </a:ext>
            </a:extLst>
          </p:cNvPr>
          <p:cNvSpPr/>
          <p:nvPr userDrawn="1"/>
        </p:nvSpPr>
        <p:spPr>
          <a:xfrm>
            <a:off x="3745109" y="4525070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58774E0-9642-4F13-A5E6-09E3CB03DBB5}"/>
              </a:ext>
            </a:extLst>
          </p:cNvPr>
          <p:cNvSpPr/>
          <p:nvPr userDrawn="1"/>
        </p:nvSpPr>
        <p:spPr>
          <a:xfrm>
            <a:off x="5798077" y="2268282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65EF3DD-F676-4685-9875-B94CF9FB2C8D}"/>
              </a:ext>
            </a:extLst>
          </p:cNvPr>
          <p:cNvSpPr/>
          <p:nvPr userDrawn="1"/>
        </p:nvSpPr>
        <p:spPr>
          <a:xfrm>
            <a:off x="7880040" y="4499666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60A3CDF-ADAF-4527-8705-2F8E3851CF65}"/>
              </a:ext>
            </a:extLst>
          </p:cNvPr>
          <p:cNvSpPr/>
          <p:nvPr userDrawn="1"/>
        </p:nvSpPr>
        <p:spPr>
          <a:xfrm>
            <a:off x="9933008" y="2246690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FD028A3-58B1-44C9-AC6A-A869FC68B50F}"/>
              </a:ext>
            </a:extLst>
          </p:cNvPr>
          <p:cNvSpPr/>
          <p:nvPr userDrawn="1"/>
        </p:nvSpPr>
        <p:spPr>
          <a:xfrm>
            <a:off x="10935474" y="4100876"/>
            <a:ext cx="457081" cy="457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18F0CF87-D85A-411D-8002-1157A047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86" y="207552"/>
            <a:ext cx="10512862" cy="6444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8F9015-A4A2-47D3-9665-686A67F0ED81}"/>
              </a:ext>
            </a:extLst>
          </p:cNvPr>
          <p:cNvSpPr txBox="1"/>
          <p:nvPr userDrawn="1"/>
        </p:nvSpPr>
        <p:spPr>
          <a:xfrm>
            <a:off x="1382831" y="1586907"/>
            <a:ext cx="88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99" b="1" dirty="0">
                <a:solidFill>
                  <a:schemeClr val="accent2"/>
                </a:solidFill>
                <a:latin typeface="+mj-lt"/>
              </a:rPr>
              <a:t>01</a:t>
            </a:r>
            <a:endParaRPr lang="en-US" sz="1799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26A1182-EDE9-44E7-BA1C-CCAA1B422C3C}"/>
              </a:ext>
            </a:extLst>
          </p:cNvPr>
          <p:cNvSpPr txBox="1"/>
          <p:nvPr userDrawn="1"/>
        </p:nvSpPr>
        <p:spPr>
          <a:xfrm>
            <a:off x="3515863" y="5001793"/>
            <a:ext cx="88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99" b="1" dirty="0">
                <a:solidFill>
                  <a:schemeClr val="accent3"/>
                </a:solidFill>
                <a:latin typeface="+mj-lt"/>
              </a:rPr>
              <a:t>02</a:t>
            </a:r>
            <a:endParaRPr lang="en-US" sz="1799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53D0452-E8F6-4E1D-8D89-47F4DE14020B}"/>
              </a:ext>
            </a:extLst>
          </p:cNvPr>
          <p:cNvSpPr txBox="1"/>
          <p:nvPr userDrawn="1"/>
        </p:nvSpPr>
        <p:spPr>
          <a:xfrm>
            <a:off x="5573105" y="1593859"/>
            <a:ext cx="88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99" b="1" dirty="0">
                <a:solidFill>
                  <a:schemeClr val="accent4"/>
                </a:solidFill>
                <a:latin typeface="+mj-lt"/>
              </a:rPr>
              <a:t>03</a:t>
            </a:r>
            <a:endParaRPr lang="en-US" sz="1799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8EE8165-DF59-42CB-A646-DBDAB53967B1}"/>
              </a:ext>
            </a:extLst>
          </p:cNvPr>
          <p:cNvSpPr txBox="1"/>
          <p:nvPr userDrawn="1"/>
        </p:nvSpPr>
        <p:spPr>
          <a:xfrm>
            <a:off x="7655068" y="4982271"/>
            <a:ext cx="88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99" b="1" dirty="0">
                <a:solidFill>
                  <a:schemeClr val="accent5"/>
                </a:solidFill>
                <a:latin typeface="+mj-lt"/>
              </a:rPr>
              <a:t>04</a:t>
            </a:r>
            <a:endParaRPr lang="en-US" sz="1799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EC5584D-5A50-4F4A-A8CD-530EFB27FD79}"/>
              </a:ext>
            </a:extLst>
          </p:cNvPr>
          <p:cNvSpPr txBox="1"/>
          <p:nvPr userDrawn="1"/>
        </p:nvSpPr>
        <p:spPr>
          <a:xfrm>
            <a:off x="9693695" y="1554587"/>
            <a:ext cx="88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99" b="1" dirty="0">
                <a:solidFill>
                  <a:schemeClr val="accent6"/>
                </a:solidFill>
                <a:latin typeface="+mj-lt"/>
              </a:rPr>
              <a:t>05</a:t>
            </a:r>
            <a:endParaRPr lang="en-US" sz="1799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FF7EDF04-AD2B-463F-873D-F9F513090E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1216" y="4610158"/>
            <a:ext cx="2068155" cy="391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34">
            <a:extLst>
              <a:ext uri="{FF2B5EF4-FFF2-40B4-BE49-F238E27FC236}">
                <a16:creationId xmlns:a16="http://schemas.microsoft.com/office/drawing/2014/main" id="{7F70B278-4654-46AC-8DD6-824CEF1DFA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1950" y="5036816"/>
            <a:ext cx="2068155" cy="11595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8" name="Text Placeholder 34">
            <a:extLst>
              <a:ext uri="{FF2B5EF4-FFF2-40B4-BE49-F238E27FC236}">
                <a16:creationId xmlns:a16="http://schemas.microsoft.com/office/drawing/2014/main" id="{3B7069E5-61AE-4AB2-8653-98A7F283E0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97211" y="4610158"/>
            <a:ext cx="2068155" cy="391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34">
            <a:extLst>
              <a:ext uri="{FF2B5EF4-FFF2-40B4-BE49-F238E27FC236}">
                <a16:creationId xmlns:a16="http://schemas.microsoft.com/office/drawing/2014/main" id="{38A8EB30-9561-4857-91EC-C9B25464AF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946" y="5036816"/>
            <a:ext cx="2068155" cy="11595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34">
            <a:extLst>
              <a:ext uri="{FF2B5EF4-FFF2-40B4-BE49-F238E27FC236}">
                <a16:creationId xmlns:a16="http://schemas.microsoft.com/office/drawing/2014/main" id="{AE1932D4-1CD4-4631-9E96-954227141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86973" y="4613478"/>
            <a:ext cx="2068155" cy="391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34">
            <a:extLst>
              <a:ext uri="{FF2B5EF4-FFF2-40B4-BE49-F238E27FC236}">
                <a16:creationId xmlns:a16="http://schemas.microsoft.com/office/drawing/2014/main" id="{7A6D526A-E91A-4FC8-8AB8-5FEA321F6A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77708" y="5040136"/>
            <a:ext cx="2068155" cy="11595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34">
            <a:extLst>
              <a:ext uri="{FF2B5EF4-FFF2-40B4-BE49-F238E27FC236}">
                <a16:creationId xmlns:a16="http://schemas.microsoft.com/office/drawing/2014/main" id="{61A32F9F-4ACF-442A-8853-0E4B42CC9E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64882" y="1126350"/>
            <a:ext cx="2068155" cy="391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34">
            <a:extLst>
              <a:ext uri="{FF2B5EF4-FFF2-40B4-BE49-F238E27FC236}">
                <a16:creationId xmlns:a16="http://schemas.microsoft.com/office/drawing/2014/main" id="{B3D0AD38-B8DA-4C19-97D0-C4BF494F2F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55616" y="1553008"/>
            <a:ext cx="2068155" cy="11595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4" name="Text Placeholder 34">
            <a:extLst>
              <a:ext uri="{FF2B5EF4-FFF2-40B4-BE49-F238E27FC236}">
                <a16:creationId xmlns:a16="http://schemas.microsoft.com/office/drawing/2014/main" id="{A8DE427E-A7F5-47D9-AA8C-5F8089A99E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27658" y="1066973"/>
            <a:ext cx="2068155" cy="391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Text Placeholder 34">
            <a:extLst>
              <a:ext uri="{FF2B5EF4-FFF2-40B4-BE49-F238E27FC236}">
                <a16:creationId xmlns:a16="http://schemas.microsoft.com/office/drawing/2014/main" id="{E764A502-6D62-4133-90C7-1FE9B38E74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18393" y="1493631"/>
            <a:ext cx="2068155" cy="11595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36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  <p:sldLayoutId id="2147483697" r:id="rId1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AI Platform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dirty="0"/>
              <a:t>Plan Today for better tomorrow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98AA-DA64-40F5-702E-FFA13DD1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540E-0C11-18A2-3573-A3493DB4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 dirty="0"/>
              <a:t>AGENDA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D3DB1A-F9CB-3C47-766C-AB8DEABD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010D6-81E0-EA0B-3A75-1E9B77516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4914901" cy="3733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NORTH STAR</a:t>
            </a:r>
            <a:br>
              <a:rPr lang="en-US" dirty="0"/>
            </a:br>
            <a:endParaRPr lang="en-US" dirty="0"/>
          </a:p>
          <a:p>
            <a:r>
              <a:rPr lang="en-US" dirty="0"/>
              <a:t>AI Platform Overview</a:t>
            </a:r>
          </a:p>
          <a:p>
            <a:pPr marL="45720" indent="0">
              <a:buNone/>
            </a:pPr>
            <a:r>
              <a:rPr lang="en-US" dirty="0"/>
              <a:t>	Modular / Resilient AI Platform</a:t>
            </a:r>
            <a:br>
              <a:rPr lang="en-US" dirty="0"/>
            </a:br>
            <a:endParaRPr lang="en-US" dirty="0"/>
          </a:p>
          <a:p>
            <a:r>
              <a:rPr lang="en-US" dirty="0"/>
              <a:t>Data Overview</a:t>
            </a:r>
          </a:p>
          <a:p>
            <a:pPr lvl="1"/>
            <a:r>
              <a:rPr lang="en-US" dirty="0"/>
              <a:t>Data 2 Value Architecture</a:t>
            </a:r>
          </a:p>
          <a:p>
            <a:pPr lvl="1"/>
            <a:r>
              <a:rPr lang="en-US" dirty="0"/>
              <a:t>Data: Secure, Governed, Compliant Foundation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Realistic Market</a:t>
            </a:r>
          </a:p>
          <a:p>
            <a:r>
              <a:rPr lang="en-US" dirty="0"/>
              <a:t>Summary</a:t>
            </a:r>
          </a:p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07FA5B2F-0CDA-2FD6-DE42-A2EBA8ED0148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Executable Playbook</a:t>
            </a:r>
          </a:p>
          <a:p>
            <a:pPr lvl="1"/>
            <a:r>
              <a:rPr lang="en-US" dirty="0"/>
              <a:t>Outcome driven Playbook </a:t>
            </a:r>
          </a:p>
          <a:p>
            <a:pPr lvl="1"/>
            <a:r>
              <a:rPr lang="en-US" dirty="0"/>
              <a:t>Value Map</a:t>
            </a:r>
          </a:p>
          <a:p>
            <a:pPr lvl="1"/>
            <a:r>
              <a:rPr lang="en-US" dirty="0"/>
              <a:t>North Star</a:t>
            </a:r>
          </a:p>
          <a:p>
            <a:pPr lvl="3"/>
            <a:endParaRPr lang="en-US" dirty="0"/>
          </a:p>
          <a:p>
            <a:endParaRPr lang="en-US" dirty="0"/>
          </a:p>
          <a:p>
            <a:r>
              <a:rPr lang="en-US" dirty="0"/>
              <a:t>Realistic Market</a:t>
            </a:r>
          </a:p>
          <a:p>
            <a:r>
              <a:rPr lang="en-US" dirty="0"/>
              <a:t>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62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E02C-C92F-15E2-6817-B38B8671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382E-C13C-D382-23F9-99541F60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ORGANIZATIONAL AI PLATFORM NORTH STAR </a:t>
            </a:r>
            <a:br>
              <a:rPr lang="en-US" dirty="0"/>
            </a:br>
            <a:r>
              <a:rPr lang="en-US" dirty="0"/>
              <a:t>(6 months, incl. current quarter)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8E88D0F-8383-78CB-C227-9B381FB2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75583-FF35-CAA7-D682-31F892D2F76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9067800" cy="37338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Teams:</a:t>
            </a:r>
          </a:p>
          <a:p>
            <a:pPr lvl="1"/>
            <a:r>
              <a:rPr lang="en-US" dirty="0"/>
              <a:t>Enable teams to accelerate product innovation</a:t>
            </a:r>
          </a:p>
          <a:p>
            <a:r>
              <a:rPr lang="en-US" b="1" dirty="0"/>
              <a:t>Organization:</a:t>
            </a:r>
          </a:p>
          <a:p>
            <a:pPr lvl="1"/>
            <a:r>
              <a:rPr lang="en-US" dirty="0"/>
              <a:t>Drive Innovation at faster pace</a:t>
            </a:r>
          </a:p>
          <a:p>
            <a:r>
              <a:rPr lang="en-US" b="1" dirty="0"/>
              <a:t>Value:</a:t>
            </a:r>
          </a:p>
          <a:p>
            <a:pPr lvl="1"/>
            <a:r>
              <a:rPr lang="en-US" dirty="0"/>
              <a:t>Unlock significant business value</a:t>
            </a:r>
          </a:p>
          <a:p>
            <a:r>
              <a:rPr lang="en-US" b="1" dirty="0"/>
              <a:t>Revenue: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Accelerate existing revenue growth </a:t>
            </a:r>
          </a:p>
          <a:p>
            <a:pPr lvl="1"/>
            <a:r>
              <a:rPr lang="en-US" dirty="0"/>
              <a:t>Create new revenue growth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C79BD-1CF1-72D0-EF6A-4F789DCEDC64}"/>
              </a:ext>
            </a:extLst>
          </p:cNvPr>
          <p:cNvSpPr txBox="1"/>
          <p:nvPr/>
        </p:nvSpPr>
        <p:spPr>
          <a:xfrm>
            <a:off x="9532307" y="2896737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8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5384-DD9C-CC9C-B9BB-CDCA5BC1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7CB8-6473-D6D8-8024-A3CFD1B2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NORTH STAR - INTERNAL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371DDEB-0338-15E9-150D-6B2F6D0B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E644912F-61FC-D35D-335F-5C1981A6E7BD}"/>
              </a:ext>
            </a:extLst>
          </p:cNvPr>
          <p:cNvSpPr txBox="1">
            <a:spLocks/>
          </p:cNvSpPr>
          <p:nvPr/>
        </p:nvSpPr>
        <p:spPr>
          <a:xfrm>
            <a:off x="1446212" y="2057400"/>
            <a:ext cx="9220200" cy="3733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Eco-System:</a:t>
            </a:r>
          </a:p>
          <a:p>
            <a:pPr lvl="1"/>
            <a:r>
              <a:rPr lang="en-US" dirty="0"/>
              <a:t>Ecosystem that balances centralized governance with decentralized innovation</a:t>
            </a:r>
          </a:p>
          <a:p>
            <a:r>
              <a:rPr lang="en-US" b="1" dirty="0"/>
              <a:t>Outcome: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Each team can safely build, evaluate, and ship domain-specific agents on their own data with gated promotion from dev → stage → prod.</a:t>
            </a:r>
          </a:p>
          <a:p>
            <a:r>
              <a:rPr lang="en-US" b="1" dirty="0"/>
              <a:t>Guardrails: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Zero-trust access; data contracts; immutable lineage; automatic evals; cost &amp; drift controls; red/blue-team tests before prod. </a:t>
            </a:r>
          </a:p>
          <a:p>
            <a:r>
              <a:rPr lang="en-US" b="1" dirty="0"/>
              <a:t>Compliance posture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57996-B932-5520-A0B9-2DCB201BF403}"/>
              </a:ext>
            </a:extLst>
          </p:cNvPr>
          <p:cNvSpPr txBox="1"/>
          <p:nvPr/>
        </p:nvSpPr>
        <p:spPr>
          <a:xfrm>
            <a:off x="9532307" y="2896737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64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7908-40DE-5BF6-906C-F9105F43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9576-0655-187D-E1C3-E23662F0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Business Value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6FAE684-998F-C5D3-A8B0-75C8E89C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735A6-3D7A-B6DB-2DAD-9AC62D1F715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8991600" cy="3733800"/>
          </a:xfrm>
        </p:spPr>
        <p:txBody>
          <a:bodyPr>
            <a:normAutofit/>
          </a:bodyPr>
          <a:lstStyle/>
          <a:p>
            <a:r>
              <a:rPr lang="en-US" b="1" dirty="0"/>
              <a:t>Self-Serve Acceleration:</a:t>
            </a:r>
            <a:r>
              <a:rPr lang="en-US" dirty="0"/>
              <a:t> Each team can spin up agents in weeks, not months.</a:t>
            </a:r>
          </a:p>
          <a:p>
            <a:r>
              <a:rPr lang="en-US" b="1" dirty="0"/>
              <a:t>Risk Reduction:</a:t>
            </a:r>
            <a:r>
              <a:rPr lang="en-US" dirty="0"/>
              <a:t> Regulatory alignment, safe defaults, audits.</a:t>
            </a:r>
          </a:p>
          <a:p>
            <a:r>
              <a:rPr lang="en-US" b="1" dirty="0"/>
              <a:t>Resilience:</a:t>
            </a:r>
            <a:r>
              <a:rPr lang="en-US" dirty="0"/>
              <a:t> Modular services; failover and cost governance.</a:t>
            </a:r>
          </a:p>
          <a:p>
            <a:r>
              <a:rPr lang="en-US" b="1" dirty="0"/>
              <a:t>Measurable Impact:</a:t>
            </a:r>
            <a:r>
              <a:rPr lang="en-US" dirty="0"/>
              <a:t> KPIs (agent adoption, accuracy, cost per query, drift rate).</a:t>
            </a:r>
          </a:p>
        </p:txBody>
      </p:sp>
    </p:spTree>
    <p:extLst>
      <p:ext uri="{BB962C8B-B14F-4D97-AF65-F5344CB8AC3E}">
        <p14:creationId xmlns:p14="http://schemas.microsoft.com/office/powerpoint/2010/main" val="265028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ABF8-3C04-D043-889A-B118F2A9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07D2-BB5F-7A16-70B3-E798EA87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Platform: Modular, Resilient AI Management Layer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63CEC14-8EEA-DE56-0AB1-5BE3C496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6E6D0-B738-A072-4700-1E3F6B7C94E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4914901" cy="37338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Identity &amp; Access</a:t>
            </a:r>
            <a:endParaRPr lang="en-US" dirty="0"/>
          </a:p>
          <a:p>
            <a:pPr lvl="1"/>
            <a:r>
              <a:rPr lang="en-US" dirty="0"/>
              <a:t>Single Sign-On + MFA.</a:t>
            </a:r>
          </a:p>
          <a:p>
            <a:r>
              <a:rPr lang="en-US" b="1" dirty="0"/>
              <a:t>Attribute-based access control (ABAC):</a:t>
            </a:r>
          </a:p>
          <a:p>
            <a:pPr lvl="1"/>
            <a:r>
              <a:rPr lang="en-US" dirty="0"/>
              <a:t>Enforce who can use which data and tools.</a:t>
            </a:r>
          </a:p>
          <a:p>
            <a:r>
              <a:rPr lang="en-US" b="1" dirty="0"/>
              <a:t>Shared Services</a:t>
            </a:r>
            <a:endParaRPr lang="en-US" dirty="0"/>
          </a:p>
          <a:p>
            <a:pPr lvl="1"/>
            <a:r>
              <a:rPr lang="en-US" b="1" dirty="0"/>
              <a:t>Vector Store per team</a:t>
            </a:r>
            <a:r>
              <a:rPr lang="en-US" dirty="0"/>
              <a:t> (isolated indexes).</a:t>
            </a:r>
          </a:p>
          <a:p>
            <a:pPr lvl="1"/>
            <a:r>
              <a:rPr lang="en-US" b="1" dirty="0"/>
              <a:t>Feature Store per team</a:t>
            </a:r>
            <a:r>
              <a:rPr lang="en-US" dirty="0"/>
              <a:t> (reusable ML features).</a:t>
            </a:r>
          </a:p>
          <a:p>
            <a:pPr lvl="1"/>
            <a:r>
              <a:rPr lang="en-US" b="1" dirty="0"/>
              <a:t>Secrets Vault</a:t>
            </a:r>
            <a:r>
              <a:rPr lang="en-US" dirty="0"/>
              <a:t> with per-team paths.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AC4BB19-9A54-145A-3562-4F1AF1DE85FF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Agent Fabric</a:t>
            </a:r>
            <a:endParaRPr lang="en-US" dirty="0"/>
          </a:p>
          <a:p>
            <a:pPr lvl="1"/>
            <a:r>
              <a:rPr lang="en-US" dirty="0"/>
              <a:t>Runtime container for team agents.</a:t>
            </a:r>
          </a:p>
          <a:p>
            <a:pPr lvl="1"/>
            <a:r>
              <a:rPr lang="en-US" dirty="0"/>
              <a:t>Toolkits: retrieval, SQL, APIs, Slack/Jira, code execution (sandboxed).</a:t>
            </a:r>
          </a:p>
          <a:p>
            <a:pPr lvl="1"/>
            <a:r>
              <a:rPr lang="en-US" dirty="0"/>
              <a:t>Built-in guardrails: prompt filtering, content policies, jailbreak detection.</a:t>
            </a:r>
          </a:p>
          <a:p>
            <a:r>
              <a:rPr lang="en-US" b="1" dirty="0"/>
              <a:t>Lifecycle Management</a:t>
            </a:r>
            <a:endParaRPr lang="en-US" dirty="0"/>
          </a:p>
          <a:p>
            <a:pPr lvl="1"/>
            <a:r>
              <a:rPr lang="en-US" b="1" dirty="0"/>
              <a:t>Model/Agent Registry:</a:t>
            </a:r>
            <a:r>
              <a:rPr lang="en-US" dirty="0"/>
              <a:t> version datasets, prompts, tools, and agents.</a:t>
            </a:r>
          </a:p>
          <a:p>
            <a:pPr lvl="1"/>
            <a:r>
              <a:rPr lang="en-US" b="1" dirty="0"/>
              <a:t>Deployment Gates:</a:t>
            </a:r>
            <a:r>
              <a:rPr lang="en-US" dirty="0"/>
              <a:t> Dev → Stage → Prod requires passing evaluations.</a:t>
            </a:r>
          </a:p>
          <a:p>
            <a:pPr lvl="1"/>
            <a:r>
              <a:rPr lang="en-US" b="1" dirty="0"/>
              <a:t>CI/CD Pipelines:</a:t>
            </a:r>
            <a:r>
              <a:rPr lang="en-US" dirty="0"/>
              <a:t> signed artifacts, reproducible builds, rollback.</a:t>
            </a:r>
          </a:p>
        </p:txBody>
      </p:sp>
    </p:spTree>
    <p:extLst>
      <p:ext uri="{BB962C8B-B14F-4D97-AF65-F5344CB8AC3E}">
        <p14:creationId xmlns:p14="http://schemas.microsoft.com/office/powerpoint/2010/main" val="144710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1F46-EAEF-347F-5565-35699A12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A672-022C-37A1-AADA-B8CED200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Platform: Modular, Resilient AI Management Layer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CCD34AC-C705-9265-BF6A-D7E0C0E8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63AEC-1B1C-A189-9165-10505333B35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4914901" cy="3733800"/>
          </a:xfrm>
        </p:spPr>
        <p:txBody>
          <a:bodyPr>
            <a:normAutofit/>
          </a:bodyPr>
          <a:lstStyle/>
          <a:p>
            <a:r>
              <a:rPr lang="en-US" b="1" dirty="0"/>
              <a:t>Compliance Layer</a:t>
            </a:r>
            <a:endParaRPr lang="en-US" dirty="0"/>
          </a:p>
          <a:p>
            <a:r>
              <a:rPr lang="en-US" b="1" dirty="0"/>
              <a:t>NIST AI RMF</a:t>
            </a:r>
            <a:r>
              <a:rPr lang="en-US" dirty="0"/>
              <a:t> for governance.</a:t>
            </a:r>
          </a:p>
          <a:p>
            <a:r>
              <a:rPr lang="en-US" b="1" dirty="0"/>
              <a:t>ISO/IEC 42001</a:t>
            </a:r>
            <a:r>
              <a:rPr lang="en-US" dirty="0"/>
              <a:t> AI Management System integration.</a:t>
            </a:r>
          </a:p>
          <a:p>
            <a:r>
              <a:rPr lang="en-US" b="1" dirty="0"/>
              <a:t>EU AI Act alignment:</a:t>
            </a:r>
            <a:r>
              <a:rPr lang="en-US" dirty="0"/>
              <a:t> DPIAs, human oversight, risk classification.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08879A7-0528-4FF7-1759-8C1432048516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Observability</a:t>
            </a:r>
            <a:endParaRPr lang="en-US" dirty="0"/>
          </a:p>
          <a:p>
            <a:r>
              <a:rPr lang="en-US" dirty="0"/>
              <a:t>Unified logging, traces, and cost dashboards.</a:t>
            </a:r>
          </a:p>
          <a:p>
            <a:r>
              <a:rPr lang="en-US" dirty="0"/>
              <a:t>Drift detection, accuracy monitoring, error budget policies.</a:t>
            </a:r>
          </a:p>
        </p:txBody>
      </p:sp>
    </p:spTree>
    <p:extLst>
      <p:ext uri="{BB962C8B-B14F-4D97-AF65-F5344CB8AC3E}">
        <p14:creationId xmlns:p14="http://schemas.microsoft.com/office/powerpoint/2010/main" val="417550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3D40-6983-6F8C-4BBA-3F333EA5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7C5C-0A82-748F-9EB6-D7B57C78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Agents: Per-Team, Isolated, Governed Autonomy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F37B552-5276-B99A-AACF-A08042B2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383CA-5F96-3CD3-9718-F76215646C0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4914901" cy="3733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Team Workspaces</a:t>
            </a:r>
            <a:endParaRPr lang="en-US" dirty="0"/>
          </a:p>
          <a:p>
            <a:pPr lvl="1"/>
            <a:r>
              <a:rPr lang="en-US" dirty="0"/>
              <a:t>Each team gets a </a:t>
            </a:r>
            <a:r>
              <a:rPr lang="en-US" b="1" dirty="0"/>
              <a:t>workspace</a:t>
            </a:r>
            <a:r>
              <a:rPr lang="en-US" dirty="0"/>
              <a:t> (IAM group, namespace, secrets, budget).</a:t>
            </a:r>
          </a:p>
          <a:p>
            <a:pPr lvl="1"/>
            <a:r>
              <a:rPr lang="en-US" dirty="0"/>
              <a:t>Boundaries: network (VPC/NSG), identity, and KMS keys.</a:t>
            </a:r>
          </a:p>
          <a:p>
            <a:r>
              <a:rPr lang="en-US" b="1" dirty="0"/>
              <a:t>Data Access</a:t>
            </a:r>
            <a:endParaRPr lang="en-US" dirty="0"/>
          </a:p>
          <a:p>
            <a:pPr lvl="1"/>
            <a:r>
              <a:rPr lang="en-US" dirty="0"/>
              <a:t>Teams query </a:t>
            </a:r>
            <a:r>
              <a:rPr lang="en-US" b="1" dirty="0"/>
              <a:t>only their marts, features, and vectors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Compliance labels enforce allowed datasets (no accidental cross-team leaks).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9C4DEE7-E43D-12D9-E788-A094F407FF48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Agent Runtime</a:t>
            </a:r>
            <a:endParaRPr lang="en-US" dirty="0"/>
          </a:p>
          <a:p>
            <a:r>
              <a:rPr lang="en-US" dirty="0"/>
              <a:t>Each agent project bundles:</a:t>
            </a:r>
          </a:p>
          <a:p>
            <a:pPr lvl="1"/>
            <a:r>
              <a:rPr lang="en-US" dirty="0"/>
              <a:t>Data sources (curated marts, vectors).</a:t>
            </a:r>
          </a:p>
          <a:p>
            <a:pPr lvl="1"/>
            <a:r>
              <a:rPr lang="en-US" dirty="0"/>
              <a:t>Approved tools (team-specific).</a:t>
            </a:r>
          </a:p>
          <a:p>
            <a:pPr lvl="1"/>
            <a:r>
              <a:rPr lang="en-US" dirty="0"/>
              <a:t>Guardrails (input/output filters, SLOs).</a:t>
            </a:r>
          </a:p>
          <a:p>
            <a:pPr lvl="1"/>
            <a:r>
              <a:rPr lang="en-US" dirty="0"/>
              <a:t>Cost budgets &amp; rate limits.</a:t>
            </a:r>
          </a:p>
        </p:txBody>
      </p:sp>
    </p:spTree>
    <p:extLst>
      <p:ext uri="{BB962C8B-B14F-4D97-AF65-F5344CB8AC3E}">
        <p14:creationId xmlns:p14="http://schemas.microsoft.com/office/powerpoint/2010/main" val="212857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EB5A-DC18-1C8C-7E11-73131E65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AAB1-F1BC-6D0D-FE45-40B03833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Agents: Per-Team, Isolated, Governed Autonomy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B881F9E-333C-1FD8-0F60-CCEAF72B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FC08D-9746-E0C8-10CD-03A35FC0772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5105400" cy="3733800"/>
          </a:xfrm>
        </p:spPr>
        <p:txBody>
          <a:bodyPr>
            <a:normAutofit/>
          </a:bodyPr>
          <a:lstStyle/>
          <a:p>
            <a:r>
              <a:rPr lang="en-US" b="1" dirty="0"/>
              <a:t>Evaluation Harness</a:t>
            </a:r>
            <a:endParaRPr lang="en-US" dirty="0"/>
          </a:p>
          <a:p>
            <a:pPr lvl="1"/>
            <a:r>
              <a:rPr lang="en-US" dirty="0"/>
              <a:t>Golden question sets, regression tests.</a:t>
            </a:r>
          </a:p>
          <a:p>
            <a:pPr lvl="1"/>
            <a:r>
              <a:rPr lang="en-US" dirty="0"/>
              <a:t>Red-team scenarios (prompt injection, hallucination).</a:t>
            </a:r>
          </a:p>
          <a:p>
            <a:pPr lvl="1"/>
            <a:r>
              <a:rPr lang="en-US" dirty="0"/>
              <a:t>Auto block promotion if evals regress.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1D23786-54D4-8DD3-56F5-481CC6C3A0F5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Deployment Lifecycle</a:t>
            </a:r>
            <a:endParaRPr lang="en-US" dirty="0"/>
          </a:p>
          <a:p>
            <a:pPr lvl="1"/>
            <a:r>
              <a:rPr lang="en-US" dirty="0"/>
              <a:t>Dev sandbox (low-risk experiments).</a:t>
            </a:r>
          </a:p>
          <a:p>
            <a:pPr lvl="1"/>
            <a:r>
              <a:rPr lang="en-US" dirty="0"/>
              <a:t>Stage (with golden set evaluations).</a:t>
            </a:r>
          </a:p>
          <a:p>
            <a:pPr lvl="1"/>
            <a:r>
              <a:rPr lang="en-US" dirty="0"/>
              <a:t>Prod (audited, monitored, signed off).</a:t>
            </a:r>
          </a:p>
          <a:p>
            <a:r>
              <a:rPr lang="en-US" b="1" dirty="0"/>
              <a:t>Human Oversight</a:t>
            </a:r>
            <a:endParaRPr lang="en-US" dirty="0"/>
          </a:p>
          <a:p>
            <a:pPr lvl="1"/>
            <a:r>
              <a:rPr lang="en-US" dirty="0"/>
              <a:t>For sensitive/high-risk use cases: manual approval, DPIA, escalation.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07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629E-8415-2E33-6E70-996C849E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08E7-E2D0-E230-CE8E-9E8CB193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Business Value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D01710F-8185-168D-E47B-D40F5219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63042-5AEE-9408-5039-3513DE8DC28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8991600" cy="3733800"/>
          </a:xfrm>
        </p:spPr>
        <p:txBody>
          <a:bodyPr>
            <a:normAutofit/>
          </a:bodyPr>
          <a:lstStyle/>
          <a:p>
            <a:r>
              <a:rPr lang="en-US" b="1" dirty="0"/>
              <a:t>Self-Serve Acceleration:</a:t>
            </a:r>
            <a:r>
              <a:rPr lang="en-US" dirty="0"/>
              <a:t> Each team can spin up agents in weeks, not months.</a:t>
            </a:r>
          </a:p>
          <a:p>
            <a:r>
              <a:rPr lang="en-US" b="1" dirty="0"/>
              <a:t>Risk Reduction:</a:t>
            </a:r>
            <a:r>
              <a:rPr lang="en-US" dirty="0"/>
              <a:t> Regulatory alignment, safe defaults, audits.</a:t>
            </a:r>
          </a:p>
          <a:p>
            <a:r>
              <a:rPr lang="en-US" b="1" dirty="0"/>
              <a:t>Resilience:</a:t>
            </a:r>
            <a:r>
              <a:rPr lang="en-US" dirty="0"/>
              <a:t> Modular services; failover and cost governance.</a:t>
            </a:r>
          </a:p>
          <a:p>
            <a:r>
              <a:rPr lang="en-US" b="1" dirty="0"/>
              <a:t>Measurable Impact:</a:t>
            </a:r>
            <a:r>
              <a:rPr lang="en-US" dirty="0"/>
              <a:t> KPIs (agent adoption, accuracy, cost per query, drift rate).</a:t>
            </a:r>
          </a:p>
        </p:txBody>
      </p:sp>
    </p:spTree>
    <p:extLst>
      <p:ext uri="{BB962C8B-B14F-4D97-AF65-F5344CB8AC3E}">
        <p14:creationId xmlns:p14="http://schemas.microsoft.com/office/powerpoint/2010/main" val="94189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2031-7044-730D-64F4-E960355D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ABDC-AD52-C8BF-AD71-869CD55B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Data: Secure, Governed, Compliant Foundation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4101F54-FA11-80DC-673E-CA7C8E77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5F148-668E-FBB2-7A4B-98FB66FC905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9144000" cy="3733800"/>
          </a:xfrm>
        </p:spPr>
        <p:txBody>
          <a:bodyPr>
            <a:normAutofit/>
          </a:bodyPr>
          <a:lstStyle/>
          <a:p>
            <a:r>
              <a:rPr lang="en-US" b="1" dirty="0"/>
              <a:t>Outcome:</a:t>
            </a:r>
            <a:r>
              <a:rPr lang="en-US" dirty="0"/>
              <a:t> Each team can safely build, evaluate, and ship domain-specific agents on their own data with gated promotion from dev → stage → prod.</a:t>
            </a:r>
          </a:p>
          <a:p>
            <a:r>
              <a:rPr lang="en-US" b="1" dirty="0"/>
              <a:t>Guardrails:</a:t>
            </a:r>
            <a:r>
              <a:rPr lang="en-US" dirty="0"/>
              <a:t> Zero-trust access; data contracts; immutable lineage; automatic evals; cost &amp; drift controls; red/blue-team tests before prod.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30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en-US" dirty="0"/>
              <a:t>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Combining functionality and user-friendliness, we empower users to streamline operations and boost efficiency</a:t>
            </a:r>
          </a:p>
        </p:txBody>
      </p:sp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0762-C4CC-017A-7E22-40031531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186C3-1777-1E23-52FA-74FA6E6B9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Data Strategy Platform Overview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1693A78-9E5C-CCC4-2601-91190F92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70D626CC-D434-B055-E581-3851689AD003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 descr="A chart with text and images&#10;&#10;AI-generated content may be incorrect.">
            <a:extLst>
              <a:ext uri="{FF2B5EF4-FFF2-40B4-BE49-F238E27FC236}">
                <a16:creationId xmlns:a16="http://schemas.microsoft.com/office/drawing/2014/main" id="{C8480BA4-BDBE-24BB-1E02-22EDAB602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212" y="1638300"/>
            <a:ext cx="5181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6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BE8A-6482-F1AF-EE3E-DB3F3086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5422-8409-30C0-D1C0-8F7B31B9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Data: Secure, Governed, Compliant Foundation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D09073-5F17-C22F-4C21-1D5B4D42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EA1FC-B0F4-05BB-F96A-AD2B69E21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46212" y="2362200"/>
            <a:ext cx="9144000" cy="3733800"/>
          </a:xfrm>
        </p:spPr>
        <p:txBody>
          <a:bodyPr>
            <a:normAutofit/>
          </a:bodyPr>
          <a:lstStyle/>
          <a:p>
            <a:r>
              <a:rPr lang="en-US" b="1" dirty="0"/>
              <a:t>Outcome:</a:t>
            </a:r>
            <a:r>
              <a:rPr lang="en-US" dirty="0"/>
              <a:t> Each team can safely build, evaluate, and ship domain-specific agents on their own data with gated promotion from dev → stage → prod.</a:t>
            </a:r>
          </a:p>
          <a:p>
            <a:r>
              <a:rPr lang="en-US" b="1" dirty="0"/>
              <a:t>Guardrails:</a:t>
            </a:r>
            <a:r>
              <a:rPr lang="en-US" dirty="0"/>
              <a:t> Zero-trust access; data contracts; immutable lineage; automatic evals; cost &amp; drift controls; red/blue-team tests before prod.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03D2-1B55-B969-59DF-55E880EB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95AA-A740-B446-FDD4-835CB8DB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en-US" dirty="0"/>
              <a:t>AI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D8026-7112-1C8F-2782-2652D09EB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Platform + Agents framework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838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BA3C2-9F2D-F4A9-8DEF-6B52A4B2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7436-01DD-8B31-B788-5F4F5324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Platform Overview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7AF26E8-3362-5425-546B-D248FD1F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02F339A6-B40E-FD6E-6850-CA62B61373BD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2" name="Picture 11" descr="A diagram of a common framework&#10;&#10;AI-generated content may be incorrect.">
            <a:extLst>
              <a:ext uri="{FF2B5EF4-FFF2-40B4-BE49-F238E27FC236}">
                <a16:creationId xmlns:a16="http://schemas.microsoft.com/office/drawing/2014/main" id="{70E1AC2C-B8CF-B06F-D95C-93EF71751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087" y="1295400"/>
            <a:ext cx="5562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86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8E73-1150-79B5-F5BC-4327967A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8034E-A8AC-B154-21E8-DC6BB6B3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53600" cy="1447800"/>
          </a:xfrm>
        </p:spPr>
        <p:txBody>
          <a:bodyPr anchor="t"/>
          <a:lstStyle/>
          <a:p>
            <a:r>
              <a:rPr lang="en-US" dirty="0"/>
              <a:t>AI Platform Overview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C8FFCC2-2AD8-BC5B-FBA4-9F6AC607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7996A3B-AD3A-2623-4560-16151822F65E}"/>
              </a:ext>
            </a:extLst>
          </p:cNvPr>
          <p:cNvSpPr txBox="1">
            <a:spLocks/>
          </p:cNvSpPr>
          <p:nvPr/>
        </p:nvSpPr>
        <p:spPr>
          <a:xfrm>
            <a:off x="6856412" y="2362200"/>
            <a:ext cx="4914901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7724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960120" indent="-18288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3716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0E5160DF-7AB4-25FE-BA07-95B35842A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612" y="1234273"/>
            <a:ext cx="7772400" cy="559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5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AD06-8819-E837-6884-FF06B0DA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EFE6-BF7C-448E-C476-7284E9F4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060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Architecture: Platform + Agents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AAB724B-7A8E-BFF2-F3EF-020A0A50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0DB7-0528-A2D7-AF49-43B17DB03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5316538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The architecture is a </a:t>
            </a:r>
            <a:r>
              <a:rPr lang="en-US" b="1" dirty="0"/>
              <a:t>hub-and-spoke model</a:t>
            </a:r>
          </a:p>
          <a:p>
            <a:pPr marL="651510" lvl="1" indent="-285750">
              <a:buFont typeface="Arial" panose="020B0604020202020204" pitchFamily="34" charset="0"/>
              <a:buChar char="•"/>
            </a:pPr>
            <a:r>
              <a:rPr lang="en-US" dirty="0"/>
              <a:t>Maximum efficiency, resilience and Seamless integration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Core AI platform serves as our centralized "engine," providing shared services and ensuring security and compliance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9B3100-940B-ECE2-CB5B-845E3A0AB512}"/>
              </a:ext>
            </a:extLst>
          </p:cNvPr>
          <p:cNvSpPr txBox="1">
            <a:spLocks/>
          </p:cNvSpPr>
          <p:nvPr/>
        </p:nvSpPr>
        <p:spPr>
          <a:xfrm>
            <a:off x="6246812" y="2362200"/>
            <a:ext cx="5316538" cy="426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Autonomous AI agents, </a:t>
            </a:r>
          </a:p>
          <a:p>
            <a:pPr marL="651510" lvl="1" indent="-285750">
              <a:buFont typeface="Arial" panose="020B0604020202020204" pitchFamily="34" charset="0"/>
              <a:buChar char="•"/>
            </a:pPr>
            <a:r>
              <a:rPr lang="en-US" dirty="0"/>
              <a:t>Built by individual teams</a:t>
            </a:r>
          </a:p>
          <a:p>
            <a:pPr marL="651510" lvl="1" indent="-285750">
              <a:buFont typeface="Arial" panose="020B0604020202020204" pitchFamily="34" charset="0"/>
              <a:buChar char="•"/>
            </a:pPr>
            <a:r>
              <a:rPr lang="en-US" dirty="0"/>
              <a:t>”Catalysts" for creating direct </a:t>
            </a:r>
            <a:r>
              <a:rPr lang="en-US" b="1" dirty="0"/>
              <a:t>business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52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C579-C418-F1C7-0BDE-1DB26E8C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A5EA-93F6-3615-EE79-6DBF1BEB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060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The Autonomous AI Agents (The Spokes)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DBA3B8-2536-22A5-48AF-A48AD8C3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B618-CE6E-CA95-AD2F-9D216741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9507538" cy="426720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These are the direct drivers of </a:t>
            </a:r>
            <a:r>
              <a:rPr lang="en-US" b="1" dirty="0"/>
              <a:t>business value</a:t>
            </a:r>
            <a:r>
              <a:rPr lang="en-US" dirty="0"/>
              <a:t>. Each agent is a modular, domain-specific application that is owned and developed by a specific business unit.</a:t>
            </a:r>
          </a:p>
          <a:p>
            <a:r>
              <a:rPr lang="en-US" b="1" dirty="0"/>
              <a:t>Modular &amp; Agile:</a:t>
            </a:r>
            <a:r>
              <a:rPr lang="en-US" dirty="0"/>
              <a:t> Each agent is a self-contained unit built to solve a specific business problem, such as personalizing customer experiences to increase sales or automating support to reduce costs. This modularity allows for rapid development and deployment.</a:t>
            </a:r>
          </a:p>
          <a:p>
            <a:r>
              <a:rPr lang="en-US" b="1" dirty="0"/>
              <a:t>Resilient &amp; Independent:</a:t>
            </a:r>
            <a:r>
              <a:rPr lang="en-US" dirty="0"/>
              <a:t> Agents are designed to operate independently. This ensures that the failure of one agent does not impact the entire system, guaranteeing the resilience of our AI-powered services.</a:t>
            </a:r>
          </a:p>
          <a:p>
            <a:r>
              <a:rPr lang="en-US" b="1" dirty="0"/>
              <a:t>API-First:</a:t>
            </a:r>
            <a:r>
              <a:rPr lang="en-US" dirty="0"/>
              <a:t> Agents will expose their functionality via APIs, fostering collaboration and enabling us to quickly build new services on top of existing ones, further accelerating our path to new </a:t>
            </a:r>
            <a:r>
              <a:rPr lang="en-US" b="1" dirty="0"/>
              <a:t>revenue streams</a:t>
            </a:r>
            <a:r>
              <a:rPr lang="en-US" dirty="0"/>
              <a:t>. These are the direct drivers of </a:t>
            </a:r>
            <a:r>
              <a:rPr lang="en-US" b="1" dirty="0"/>
              <a:t>business value</a:t>
            </a:r>
            <a:r>
              <a:rPr lang="en-US" dirty="0"/>
              <a:t>. Each agent is a modular, domain-specific application that is owned and developed by a specific business unit.</a:t>
            </a:r>
          </a:p>
          <a:p>
            <a:r>
              <a:rPr lang="en-US" b="1" dirty="0"/>
              <a:t>Modular &amp; Agile:</a:t>
            </a:r>
            <a:r>
              <a:rPr lang="en-US" dirty="0"/>
              <a:t> Each agent is a self-contained unit built to solve a specific business problem, such as personalizing customer experiences to increase sales or automating support to reduce costs. This modularity allows for rapid development and deployment.</a:t>
            </a:r>
          </a:p>
          <a:p>
            <a:r>
              <a:rPr lang="en-US" b="1" dirty="0"/>
              <a:t>Resilient &amp; Independent:</a:t>
            </a:r>
            <a:r>
              <a:rPr lang="en-US" dirty="0"/>
              <a:t> Agents are designed to operate independently. This ensures that the failure of one agent does not impact the entire system, guaranteeing the resilience of our AI-powered services.</a:t>
            </a:r>
          </a:p>
          <a:p>
            <a:r>
              <a:rPr lang="en-US" b="1" dirty="0"/>
              <a:t>API-First:</a:t>
            </a:r>
            <a:r>
              <a:rPr lang="en-US" dirty="0"/>
              <a:t> Agents will expose their functionality via APIs, fostering collaboration and enabling us to quickly build new services on top of existing ones, further accelerating our path to new </a:t>
            </a:r>
            <a:r>
              <a:rPr lang="en-US" b="1" dirty="0"/>
              <a:t>revenue streams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62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F5AD-0F58-7DF6-9CFB-2BBE60B2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3C83-35D6-2237-EF4B-506D26C6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060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The Core AI Platform (The Hub)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A95685B-7C8F-99B2-FB92-4DEAEA9C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673FE-6035-FC35-7B64-5D2144AA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9888538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is our foundational investment. It's the central nervous system for our AI initiatives, providing the essential services that will drive efficiency and scale.</a:t>
            </a:r>
          </a:p>
          <a:p>
            <a:r>
              <a:rPr lang="en-US" b="1" dirty="0"/>
              <a:t>Data Foundation:</a:t>
            </a:r>
            <a:r>
              <a:rPr lang="en-US" dirty="0"/>
              <a:t> A unified data lake and feature store will serve as the single source of truth. This ensures data quality and reusability, which is critical for maximizing the </a:t>
            </a:r>
            <a:r>
              <a:rPr lang="en-US" b="1" dirty="0"/>
              <a:t>return on investment</a:t>
            </a:r>
            <a:r>
              <a:rPr lang="en-US" dirty="0"/>
              <a:t> of our data.</a:t>
            </a:r>
          </a:p>
          <a:p>
            <a:r>
              <a:rPr lang="en-US" b="1" dirty="0" err="1"/>
              <a:t>MLOps</a:t>
            </a:r>
            <a:r>
              <a:rPr lang="en-US" b="1" dirty="0"/>
              <a:t> Engine:</a:t>
            </a:r>
            <a:r>
              <a:rPr lang="en-US" dirty="0"/>
              <a:t> A standardized </a:t>
            </a:r>
            <a:r>
              <a:rPr lang="en-US" dirty="0" err="1"/>
              <a:t>MLOps</a:t>
            </a:r>
            <a:r>
              <a:rPr lang="en-US" dirty="0"/>
              <a:t> pipeline will enable us to train, version, and deploy models with speed and consistency. This automation directly translates to a faster path to </a:t>
            </a:r>
            <a:r>
              <a:rPr lang="en-US" b="1" dirty="0"/>
              <a:t>revenue generation</a:t>
            </a:r>
            <a:r>
              <a:rPr lang="en-US" dirty="0"/>
              <a:t>.</a:t>
            </a:r>
          </a:p>
          <a:p>
            <a:r>
              <a:rPr lang="en-US" b="1" dirty="0"/>
              <a:t>Governance &amp; Security:</a:t>
            </a:r>
            <a:r>
              <a:rPr lang="en-US" dirty="0"/>
              <a:t> Built with </a:t>
            </a:r>
            <a:r>
              <a:rPr lang="en-US" b="1" dirty="0"/>
              <a:t>security-by-design</a:t>
            </a:r>
            <a:r>
              <a:rPr lang="en-US" dirty="0"/>
              <a:t> principles, the platform will enforce robust access controls and audit trails. This is non-negotiable and essential for protecting our assets and maintaining customer trust.</a:t>
            </a:r>
          </a:p>
        </p:txBody>
      </p:sp>
    </p:spTree>
    <p:extLst>
      <p:ext uri="{BB962C8B-B14F-4D97-AF65-F5344CB8AC3E}">
        <p14:creationId xmlns:p14="http://schemas.microsoft.com/office/powerpoint/2010/main" val="235107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5DC6-AE7A-4566-8E1D-A64551B7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A6A4-4F25-A29F-DEB8-C695BAF4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060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Security &amp; Compliance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2D09B63-464D-D338-2EBE-E35F1527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20CB-C5B3-1D73-CDAE-1304FDC7F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9888538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is our foundational investment. It's the central nervous system for our AI initiatives, providing the essential services that will drive efficiency and scale.</a:t>
            </a:r>
          </a:p>
          <a:p>
            <a:r>
              <a:rPr lang="en-US" b="1" dirty="0"/>
              <a:t>Data Foundation:</a:t>
            </a:r>
            <a:r>
              <a:rPr lang="en-US" dirty="0"/>
              <a:t> A unified data lake and feature store will serve as the single source of truth. This ensures data quality and reusability, which is critical for maximizing the </a:t>
            </a:r>
            <a:r>
              <a:rPr lang="en-US" b="1" dirty="0"/>
              <a:t>return on investment</a:t>
            </a:r>
            <a:r>
              <a:rPr lang="en-US" dirty="0"/>
              <a:t> of our data.</a:t>
            </a:r>
          </a:p>
          <a:p>
            <a:r>
              <a:rPr lang="en-US" b="1" dirty="0" err="1"/>
              <a:t>MLOps</a:t>
            </a:r>
            <a:r>
              <a:rPr lang="en-US" b="1" dirty="0"/>
              <a:t> Engine:</a:t>
            </a:r>
            <a:r>
              <a:rPr lang="en-US" dirty="0"/>
              <a:t> A standardized </a:t>
            </a:r>
            <a:r>
              <a:rPr lang="en-US" dirty="0" err="1"/>
              <a:t>MLOps</a:t>
            </a:r>
            <a:r>
              <a:rPr lang="en-US" dirty="0"/>
              <a:t> pipeline will enable us to train, version, and deploy models with speed and consistency. This automation directly translates to a faster path to </a:t>
            </a:r>
            <a:r>
              <a:rPr lang="en-US" b="1" dirty="0"/>
              <a:t>revenue generation</a:t>
            </a:r>
            <a:r>
              <a:rPr lang="en-US" dirty="0"/>
              <a:t>.</a:t>
            </a:r>
          </a:p>
          <a:p>
            <a:r>
              <a:rPr lang="en-US" b="1" dirty="0"/>
              <a:t>Governance &amp; Security:</a:t>
            </a:r>
            <a:r>
              <a:rPr lang="en-US" dirty="0"/>
              <a:t> Built with </a:t>
            </a:r>
            <a:r>
              <a:rPr lang="en-US" b="1" dirty="0"/>
              <a:t>security-by-design</a:t>
            </a:r>
            <a:r>
              <a:rPr lang="en-US" dirty="0"/>
              <a:t> principles, the platform will enforce robust access controls and audit trails. This is non-negotiable and essential for protecting our assets and maintaining customer trust.</a:t>
            </a:r>
          </a:p>
        </p:txBody>
      </p:sp>
    </p:spTree>
    <p:extLst>
      <p:ext uri="{BB962C8B-B14F-4D97-AF65-F5344CB8AC3E}">
        <p14:creationId xmlns:p14="http://schemas.microsoft.com/office/powerpoint/2010/main" val="2505243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8C41-FDA7-9BD2-55A7-D9143BA6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3B7D-A96D-5FBE-7400-8DA40A95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060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Per-Team Data &amp; Agent Design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6C90081-C99F-E84E-43A3-941C6387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6A646-DF3D-B7D6-4FE2-089858FC8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9888538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Our approach is to </a:t>
            </a:r>
            <a:r>
              <a:rPr lang="en-US" b="1" dirty="0"/>
              <a:t>empower teams to own their outcomes</a:t>
            </a:r>
            <a:r>
              <a:rPr lang="en-US" dirty="0"/>
              <a:t> while providing a clear framework for success.</a:t>
            </a:r>
          </a:p>
          <a:p>
            <a:r>
              <a:rPr lang="en-US" b="1" dirty="0"/>
              <a:t>Data Ownership:</a:t>
            </a:r>
            <a:r>
              <a:rPr lang="en-US" dirty="0"/>
              <a:t> Each team will be responsible for the data their agents use. They'll have dedicated data pipelines that feed into the central data lake, ensuring data quality and lineage.</a:t>
            </a:r>
          </a:p>
          <a:p>
            <a:r>
              <a:rPr lang="en-US" b="1" dirty="0"/>
              <a:t>Team-Specific Repositories:</a:t>
            </a:r>
            <a:r>
              <a:rPr lang="en-US" dirty="0"/>
              <a:t> Teams will have their own code repositories for their agents, but they'll use standardized </a:t>
            </a:r>
            <a:r>
              <a:rPr lang="en-US" dirty="0" err="1"/>
              <a:t>MLOps</a:t>
            </a:r>
            <a:r>
              <a:rPr lang="en-US" dirty="0"/>
              <a:t> pipelines provided by the Core AI Platform. This ensures consistency without stifling innovation.</a:t>
            </a:r>
          </a:p>
          <a:p>
            <a:r>
              <a:rPr lang="en-US" b="1" dirty="0"/>
              <a:t>Shared Best Practices:</a:t>
            </a:r>
            <a:r>
              <a:rPr lang="en-US" dirty="0"/>
              <a:t> We will establish a community of practice and </a:t>
            </a:r>
            <a:r>
              <a:rPr lang="en-US" b="1" dirty="0"/>
              <a:t>knowledge-sharing sessions</a:t>
            </a:r>
            <a:r>
              <a:rPr lang="en-US" dirty="0"/>
              <a:t> to ensure teams learn from each other and build upon our collective expertise.</a:t>
            </a:r>
          </a:p>
        </p:txBody>
      </p:sp>
    </p:spTree>
    <p:extLst>
      <p:ext uri="{BB962C8B-B14F-4D97-AF65-F5344CB8AC3E}">
        <p14:creationId xmlns:p14="http://schemas.microsoft.com/office/powerpoint/2010/main" val="2645858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54DFB-83A7-E477-87DC-836C1950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51D0-E472-9CDA-F91D-790BFC709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060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The Two-Quarter Plan: A Roadmap to Revenue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815D5AA-BD26-3E64-5846-0468457A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0795-E702-D13A-18D1-8238958E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662" y="1828800"/>
            <a:ext cx="5020350" cy="42672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dirty="0"/>
              <a:t>Quarter 1: Foundation &amp; Minimum Viable Product (MVP)</a:t>
            </a:r>
          </a:p>
          <a:p>
            <a:r>
              <a:rPr lang="en-US" b="1" dirty="0"/>
              <a:t>Executive Alignment:</a:t>
            </a:r>
            <a:r>
              <a:rPr lang="en-US" dirty="0"/>
              <a:t> Secure final buy-in and formalize our strategic plan.</a:t>
            </a:r>
          </a:p>
          <a:p>
            <a:r>
              <a:rPr lang="en-US" b="1" dirty="0"/>
              <a:t>Platform Blueprint:</a:t>
            </a:r>
            <a:r>
              <a:rPr lang="en-US" dirty="0"/>
              <a:t> Design the Core AI Platform, focusing on data ingestion and </a:t>
            </a:r>
            <a:r>
              <a:rPr lang="en-US" dirty="0" err="1"/>
              <a:t>MLOps</a:t>
            </a:r>
            <a:r>
              <a:rPr lang="en-US" dirty="0"/>
              <a:t> to support our first few use cases.</a:t>
            </a:r>
          </a:p>
          <a:p>
            <a:r>
              <a:rPr lang="en-US" b="1" dirty="0"/>
              <a:t>MVP Launch:</a:t>
            </a:r>
            <a:r>
              <a:rPr lang="en-US" dirty="0"/>
              <a:t> Identify the first business unit to build an MVP agent. This will be a visible demonstration of our ability to create immediate </a:t>
            </a:r>
            <a:r>
              <a:rPr lang="en-US" b="1" dirty="0"/>
              <a:t>business value</a:t>
            </a:r>
            <a:r>
              <a:rPr lang="en-US" dirty="0"/>
              <a:t>.</a:t>
            </a:r>
          </a:p>
          <a:p>
            <a:r>
              <a:rPr lang="en-US" b="1" dirty="0"/>
              <a:t>Milestone:</a:t>
            </a:r>
            <a:r>
              <a:rPr lang="en-US" dirty="0"/>
              <a:t> Launch a single, functional AI agent that directly contributes to a pilot business unit's goals.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D92C37-6C79-674F-A20A-89A5DCBE5595}"/>
              </a:ext>
            </a:extLst>
          </p:cNvPr>
          <p:cNvSpPr txBox="1">
            <a:spLocks/>
          </p:cNvSpPr>
          <p:nvPr/>
        </p:nvSpPr>
        <p:spPr>
          <a:xfrm>
            <a:off x="6475412" y="1828800"/>
            <a:ext cx="5224896" cy="426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Quarter 2: Scale &amp; Monetization</a:t>
            </a:r>
          </a:p>
          <a:p>
            <a:r>
              <a:rPr lang="en-US" b="1" dirty="0"/>
              <a:t>Platform Expansion:</a:t>
            </a:r>
            <a:r>
              <a:rPr lang="en-US" dirty="0"/>
              <a:t> Expand the Core AI Platform's capabilities based on feedback from our pilot, adding new features to support more complex applications.</a:t>
            </a:r>
          </a:p>
          <a:p>
            <a:r>
              <a:rPr lang="en-US" b="1" dirty="0"/>
              <a:t>Wider Adoption:</a:t>
            </a:r>
            <a:r>
              <a:rPr lang="en-US" dirty="0"/>
              <a:t> Onboard more business units to the platform, enabling them to start developing their own agents and unlocking new </a:t>
            </a:r>
            <a:r>
              <a:rPr lang="en-US" b="1" dirty="0"/>
              <a:t>revenue opportunities</a:t>
            </a:r>
            <a:r>
              <a:rPr lang="en-US" dirty="0"/>
              <a:t>.</a:t>
            </a:r>
          </a:p>
          <a:p>
            <a:r>
              <a:rPr lang="en-US" b="1" dirty="0"/>
              <a:t>Governance Framework:</a:t>
            </a:r>
            <a:r>
              <a:rPr lang="en-US" dirty="0"/>
              <a:t> Formalize our security and compliance policies and establish the AI governance council to ensure we are scaling responsibly.</a:t>
            </a:r>
          </a:p>
          <a:p>
            <a:r>
              <a:rPr lang="en-US" b="1" dirty="0"/>
              <a:t>Milestone:</a:t>
            </a:r>
            <a:r>
              <a:rPr lang="en-US" dirty="0"/>
              <a:t> Have at least three independent AI agents in production, each contributing to our bottom line and demonstrating the scalability of our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013926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74F4C-78ED-4AFC-BEB8-A0EADB60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15" name="Freeform: Shape 19" title="Icon of a woman">
            <a:extLst>
              <a:ext uri="{FF2B5EF4-FFF2-40B4-BE49-F238E27FC236}">
                <a16:creationId xmlns:a16="http://schemas.microsoft.com/office/drawing/2014/main" id="{3BE664E6-D977-154E-919A-E903DA120F54}"/>
              </a:ext>
            </a:extLst>
          </p:cNvPr>
          <p:cNvSpPr>
            <a:spLocks/>
          </p:cNvSpPr>
          <p:nvPr/>
        </p:nvSpPr>
        <p:spPr bwMode="auto">
          <a:xfrm>
            <a:off x="1602265" y="3305584"/>
            <a:ext cx="611029" cy="655466"/>
          </a:xfrm>
          <a:custGeom>
            <a:avLst/>
            <a:gdLst>
              <a:gd name="T0" fmla="*/ 289106 w 612512"/>
              <a:gd name="T1" fmla="*/ 5535 h 656790"/>
              <a:gd name="T2" fmla="*/ 37460 w 612512"/>
              <a:gd name="T3" fmla="*/ 257181 h 656790"/>
              <a:gd name="T4" fmla="*/ 43363 w 612512"/>
              <a:gd name="T5" fmla="*/ 324336 h 656790"/>
              <a:gd name="T6" fmla="*/ 8679 w 612512"/>
              <a:gd name="T7" fmla="*/ 522849 h 656790"/>
              <a:gd name="T8" fmla="*/ 5727 w 612512"/>
              <a:gd name="T9" fmla="*/ 533181 h 656790"/>
              <a:gd name="T10" fmla="*/ 11631 w 612512"/>
              <a:gd name="T11" fmla="*/ 542774 h 656790"/>
              <a:gd name="T12" fmla="*/ 199074 w 612512"/>
              <a:gd name="T13" fmla="*/ 595170 h 656790"/>
              <a:gd name="T14" fmla="*/ 305341 w 612512"/>
              <a:gd name="T15" fmla="*/ 656421 h 656790"/>
              <a:gd name="T16" fmla="*/ 412347 w 612512"/>
              <a:gd name="T17" fmla="*/ 595170 h 656790"/>
              <a:gd name="T18" fmla="*/ 603480 w 612512"/>
              <a:gd name="T19" fmla="*/ 542774 h 656790"/>
              <a:gd name="T20" fmla="*/ 609384 w 612512"/>
              <a:gd name="T21" fmla="*/ 533181 h 656790"/>
              <a:gd name="T22" fmla="*/ 606432 w 612512"/>
              <a:gd name="T23" fmla="*/ 522111 h 656790"/>
              <a:gd name="T24" fmla="*/ 568057 w 612512"/>
              <a:gd name="T25" fmla="*/ 335406 h 656790"/>
              <a:gd name="T26" fmla="*/ 573961 w 612512"/>
              <a:gd name="T27" fmla="*/ 267513 h 656790"/>
              <a:gd name="T28" fmla="*/ 416036 w 612512"/>
              <a:gd name="T29" fmla="*/ 63096 h 656790"/>
              <a:gd name="T30" fmla="*/ 289106 w 612512"/>
              <a:gd name="T31" fmla="*/ 5535 h 656790"/>
              <a:gd name="T32" fmla="*/ 289106 w 612512"/>
              <a:gd name="T33" fmla="*/ 5535 h 656790"/>
              <a:gd name="T34" fmla="*/ 404229 w 612512"/>
              <a:gd name="T35" fmla="*/ 223235 h 656790"/>
              <a:gd name="T36" fmla="*/ 463266 w 612512"/>
              <a:gd name="T37" fmla="*/ 378208 h 656790"/>
              <a:gd name="T38" fmla="*/ 395373 w 612512"/>
              <a:gd name="T39" fmla="*/ 574507 h 656790"/>
              <a:gd name="T40" fmla="*/ 395373 w 612512"/>
              <a:gd name="T41" fmla="*/ 575245 h 656790"/>
              <a:gd name="T42" fmla="*/ 307555 w 612512"/>
              <a:gd name="T43" fmla="*/ 629854 h 656790"/>
              <a:gd name="T44" fmla="*/ 219737 w 612512"/>
              <a:gd name="T45" fmla="*/ 575245 h 656790"/>
              <a:gd name="T46" fmla="*/ 218999 w 612512"/>
              <a:gd name="T47" fmla="*/ 574507 h 656790"/>
              <a:gd name="T48" fmla="*/ 151844 w 612512"/>
              <a:gd name="T49" fmla="*/ 417320 h 656790"/>
              <a:gd name="T50" fmla="*/ 266229 w 612512"/>
              <a:gd name="T51" fmla="*/ 318433 h 656790"/>
              <a:gd name="T52" fmla="*/ 297223 w 612512"/>
              <a:gd name="T53" fmla="*/ 310315 h 656790"/>
              <a:gd name="T54" fmla="*/ 404229 w 612512"/>
              <a:gd name="T55" fmla="*/ 223235 h 656790"/>
              <a:gd name="T56" fmla="*/ 404229 w 612512"/>
              <a:gd name="T57" fmla="*/ 223235 h 656790"/>
              <a:gd name="T58" fmla="*/ 229331 w 612512"/>
              <a:gd name="T59" fmla="*/ 373780 h 656790"/>
              <a:gd name="T60" fmla="*/ 207930 w 612512"/>
              <a:gd name="T61" fmla="*/ 395181 h 656790"/>
              <a:gd name="T62" fmla="*/ 229331 w 612512"/>
              <a:gd name="T63" fmla="*/ 416582 h 656790"/>
              <a:gd name="T64" fmla="*/ 250732 w 612512"/>
              <a:gd name="T65" fmla="*/ 395181 h 656790"/>
              <a:gd name="T66" fmla="*/ 229331 w 612512"/>
              <a:gd name="T67" fmla="*/ 373780 h 656790"/>
              <a:gd name="T68" fmla="*/ 229331 w 612512"/>
              <a:gd name="T69" fmla="*/ 373780 h 656790"/>
              <a:gd name="T70" fmla="*/ 385042 w 612512"/>
              <a:gd name="T71" fmla="*/ 373780 h 656790"/>
              <a:gd name="T72" fmla="*/ 363640 w 612512"/>
              <a:gd name="T73" fmla="*/ 395181 h 656790"/>
              <a:gd name="T74" fmla="*/ 385042 w 612512"/>
              <a:gd name="T75" fmla="*/ 416582 h 656790"/>
              <a:gd name="T76" fmla="*/ 406443 w 612512"/>
              <a:gd name="T77" fmla="*/ 395181 h 656790"/>
              <a:gd name="T78" fmla="*/ 385042 w 612512"/>
              <a:gd name="T79" fmla="*/ 373780 h 656790"/>
              <a:gd name="T80" fmla="*/ 385042 w 612512"/>
              <a:gd name="T81" fmla="*/ 373780 h 65679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12512" h="656790">
                <a:moveTo>
                  <a:pt x="289106" y="5535"/>
                </a:moveTo>
                <a:cubicBezTo>
                  <a:pt x="134133" y="5535"/>
                  <a:pt x="37460" y="102208"/>
                  <a:pt x="37460" y="257181"/>
                </a:cubicBezTo>
                <a:cubicBezTo>
                  <a:pt x="37460" y="279320"/>
                  <a:pt x="40411" y="301459"/>
                  <a:pt x="43363" y="324336"/>
                </a:cubicBezTo>
                <a:cubicBezTo>
                  <a:pt x="52219" y="387063"/>
                  <a:pt x="61074" y="452742"/>
                  <a:pt x="8679" y="522849"/>
                </a:cubicBezTo>
                <a:cubicBezTo>
                  <a:pt x="6465" y="525801"/>
                  <a:pt x="4989" y="529491"/>
                  <a:pt x="5727" y="533181"/>
                </a:cubicBezTo>
                <a:cubicBezTo>
                  <a:pt x="6465" y="536871"/>
                  <a:pt x="8679" y="540561"/>
                  <a:pt x="11631" y="542774"/>
                </a:cubicBezTo>
                <a:cubicBezTo>
                  <a:pt x="13845" y="544250"/>
                  <a:pt x="70668" y="581149"/>
                  <a:pt x="199074" y="595170"/>
                </a:cubicBezTo>
                <a:cubicBezTo>
                  <a:pt x="231545" y="634282"/>
                  <a:pt x="269181" y="656421"/>
                  <a:pt x="305341" y="656421"/>
                </a:cubicBezTo>
                <a:cubicBezTo>
                  <a:pt x="341501" y="656421"/>
                  <a:pt x="379138" y="635020"/>
                  <a:pt x="412347" y="595170"/>
                </a:cubicBezTo>
                <a:cubicBezTo>
                  <a:pt x="541491" y="581149"/>
                  <a:pt x="601266" y="544250"/>
                  <a:pt x="603480" y="542774"/>
                </a:cubicBezTo>
                <a:cubicBezTo>
                  <a:pt x="607170" y="540561"/>
                  <a:pt x="608646" y="536871"/>
                  <a:pt x="609384" y="533181"/>
                </a:cubicBezTo>
                <a:cubicBezTo>
                  <a:pt x="610122" y="529491"/>
                  <a:pt x="609384" y="525063"/>
                  <a:pt x="606432" y="522111"/>
                </a:cubicBezTo>
                <a:cubicBezTo>
                  <a:pt x="553298" y="454218"/>
                  <a:pt x="560678" y="396657"/>
                  <a:pt x="568057" y="335406"/>
                </a:cubicBezTo>
                <a:cubicBezTo>
                  <a:pt x="571009" y="313267"/>
                  <a:pt x="573961" y="291128"/>
                  <a:pt x="573961" y="267513"/>
                </a:cubicBezTo>
                <a:cubicBezTo>
                  <a:pt x="573961" y="175267"/>
                  <a:pt x="532635" y="66786"/>
                  <a:pt x="416036" y="63096"/>
                </a:cubicBezTo>
                <a:cubicBezTo>
                  <a:pt x="369545" y="15866"/>
                  <a:pt x="321577" y="5535"/>
                  <a:pt x="289106" y="5535"/>
                </a:cubicBezTo>
                <a:close/>
                <a:moveTo>
                  <a:pt x="404229" y="223235"/>
                </a:moveTo>
                <a:cubicBezTo>
                  <a:pt x="424892" y="245374"/>
                  <a:pt x="463266" y="297032"/>
                  <a:pt x="463266" y="378208"/>
                </a:cubicBezTo>
                <a:cubicBezTo>
                  <a:pt x="463266" y="486689"/>
                  <a:pt x="395373" y="573769"/>
                  <a:pt x="395373" y="574507"/>
                </a:cubicBezTo>
                <a:cubicBezTo>
                  <a:pt x="395373" y="574507"/>
                  <a:pt x="395373" y="574507"/>
                  <a:pt x="395373" y="575245"/>
                </a:cubicBezTo>
                <a:cubicBezTo>
                  <a:pt x="367330" y="609929"/>
                  <a:pt x="336336" y="629854"/>
                  <a:pt x="307555" y="629854"/>
                </a:cubicBezTo>
                <a:cubicBezTo>
                  <a:pt x="278774" y="629854"/>
                  <a:pt x="247780" y="610667"/>
                  <a:pt x="219737" y="575245"/>
                </a:cubicBezTo>
                <a:cubicBezTo>
                  <a:pt x="219737" y="575245"/>
                  <a:pt x="219737" y="575245"/>
                  <a:pt x="218999" y="574507"/>
                </a:cubicBezTo>
                <a:cubicBezTo>
                  <a:pt x="218261" y="573769"/>
                  <a:pt x="151844" y="510304"/>
                  <a:pt x="151844" y="417320"/>
                </a:cubicBezTo>
                <a:cubicBezTo>
                  <a:pt x="151844" y="346475"/>
                  <a:pt x="212357" y="331716"/>
                  <a:pt x="266229" y="318433"/>
                </a:cubicBezTo>
                <a:cubicBezTo>
                  <a:pt x="277299" y="315481"/>
                  <a:pt x="287630" y="313267"/>
                  <a:pt x="297223" y="310315"/>
                </a:cubicBezTo>
                <a:cubicBezTo>
                  <a:pt x="360689" y="290390"/>
                  <a:pt x="390945" y="248326"/>
                  <a:pt x="404229" y="223235"/>
                </a:cubicBezTo>
                <a:close/>
                <a:moveTo>
                  <a:pt x="229331" y="373780"/>
                </a:moveTo>
                <a:cubicBezTo>
                  <a:pt x="217523" y="373780"/>
                  <a:pt x="207930" y="383374"/>
                  <a:pt x="207930" y="395181"/>
                </a:cubicBezTo>
                <a:cubicBezTo>
                  <a:pt x="207930" y="406989"/>
                  <a:pt x="217523" y="416582"/>
                  <a:pt x="229331" y="416582"/>
                </a:cubicBezTo>
                <a:cubicBezTo>
                  <a:pt x="241138" y="416582"/>
                  <a:pt x="250732" y="406989"/>
                  <a:pt x="250732" y="395181"/>
                </a:cubicBezTo>
                <a:cubicBezTo>
                  <a:pt x="249994" y="383374"/>
                  <a:pt x="241138" y="373780"/>
                  <a:pt x="229331" y="373780"/>
                </a:cubicBezTo>
                <a:close/>
                <a:moveTo>
                  <a:pt x="385042" y="373780"/>
                </a:moveTo>
                <a:cubicBezTo>
                  <a:pt x="373234" y="373780"/>
                  <a:pt x="363640" y="383374"/>
                  <a:pt x="363640" y="395181"/>
                </a:cubicBezTo>
                <a:cubicBezTo>
                  <a:pt x="363640" y="406989"/>
                  <a:pt x="373234" y="416582"/>
                  <a:pt x="385042" y="416582"/>
                </a:cubicBezTo>
                <a:cubicBezTo>
                  <a:pt x="396849" y="416582"/>
                  <a:pt x="406443" y="406989"/>
                  <a:pt x="406443" y="395181"/>
                </a:cubicBezTo>
                <a:cubicBezTo>
                  <a:pt x="406443" y="383374"/>
                  <a:pt x="396849" y="373780"/>
                  <a:pt x="385042" y="3737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endParaRPr lang="en-US" sz="179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92369-599A-4F81-A928-2DF2B9E096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732AD-9B2B-4AB7-A555-574842C41F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8B0C2B-3695-4D6A-AED2-61B1E08049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B10BBD8-0C9D-4B4E-855D-EE18027468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reeform: Shape 18" title="Icon of a man">
            <a:extLst>
              <a:ext uri="{FF2B5EF4-FFF2-40B4-BE49-F238E27FC236}">
                <a16:creationId xmlns:a16="http://schemas.microsoft.com/office/drawing/2014/main" id="{0BAA8FB4-4EAF-F643-8C0D-1F5670F513B6}"/>
              </a:ext>
            </a:extLst>
          </p:cNvPr>
          <p:cNvSpPr>
            <a:spLocks/>
          </p:cNvSpPr>
          <p:nvPr/>
        </p:nvSpPr>
        <p:spPr bwMode="auto">
          <a:xfrm>
            <a:off x="3731946" y="3175758"/>
            <a:ext cx="457081" cy="663402"/>
          </a:xfrm>
          <a:custGeom>
            <a:avLst/>
            <a:gdLst/>
            <a:ahLst/>
            <a:cxnLst/>
            <a:rect l="0" t="0" r="r" b="b"/>
            <a:pathLst>
              <a:path w="457539" h="664170">
                <a:moveTo>
                  <a:pt x="226707" y="5535"/>
                </a:moveTo>
                <a:cubicBezTo>
                  <a:pt x="217851" y="5535"/>
                  <a:pt x="208996" y="5535"/>
                  <a:pt x="200878" y="6273"/>
                </a:cubicBezTo>
                <a:cubicBezTo>
                  <a:pt x="200140" y="6273"/>
                  <a:pt x="198664" y="6273"/>
                  <a:pt x="197926" y="7011"/>
                </a:cubicBezTo>
                <a:cubicBezTo>
                  <a:pt x="190546" y="7749"/>
                  <a:pt x="183167" y="8487"/>
                  <a:pt x="176525" y="9962"/>
                </a:cubicBezTo>
                <a:cubicBezTo>
                  <a:pt x="169145" y="11438"/>
                  <a:pt x="161766" y="12914"/>
                  <a:pt x="154386" y="14390"/>
                </a:cubicBezTo>
                <a:lnTo>
                  <a:pt x="153648" y="15128"/>
                </a:lnTo>
                <a:cubicBezTo>
                  <a:pt x="138889" y="18818"/>
                  <a:pt x="124867" y="23984"/>
                  <a:pt x="112322" y="29888"/>
                </a:cubicBezTo>
                <a:cubicBezTo>
                  <a:pt x="99038" y="35791"/>
                  <a:pt x="87969" y="43909"/>
                  <a:pt x="76899" y="52765"/>
                </a:cubicBezTo>
                <a:cubicBezTo>
                  <a:pt x="71734" y="57192"/>
                  <a:pt x="66568" y="61620"/>
                  <a:pt x="62140" y="66786"/>
                </a:cubicBezTo>
                <a:cubicBezTo>
                  <a:pt x="42953" y="85973"/>
                  <a:pt x="28932" y="109588"/>
                  <a:pt x="19338" y="136893"/>
                </a:cubicBezTo>
                <a:cubicBezTo>
                  <a:pt x="17124" y="143534"/>
                  <a:pt x="14910" y="150176"/>
                  <a:pt x="13434" y="157556"/>
                </a:cubicBezTo>
                <a:cubicBezTo>
                  <a:pt x="11958" y="164198"/>
                  <a:pt x="10482" y="170839"/>
                  <a:pt x="9745" y="177481"/>
                </a:cubicBezTo>
                <a:cubicBezTo>
                  <a:pt x="9007" y="181909"/>
                  <a:pt x="8269" y="186337"/>
                  <a:pt x="8269" y="190764"/>
                </a:cubicBezTo>
                <a:cubicBezTo>
                  <a:pt x="7531" y="194454"/>
                  <a:pt x="7531" y="197406"/>
                  <a:pt x="6793" y="201096"/>
                </a:cubicBezTo>
                <a:cubicBezTo>
                  <a:pt x="6055" y="209213"/>
                  <a:pt x="6055" y="218069"/>
                  <a:pt x="6055" y="226925"/>
                </a:cubicBezTo>
                <a:cubicBezTo>
                  <a:pt x="6055" y="234304"/>
                  <a:pt x="7531" y="243160"/>
                  <a:pt x="9007" y="252754"/>
                </a:cubicBezTo>
                <a:cubicBezTo>
                  <a:pt x="10482" y="263085"/>
                  <a:pt x="12697" y="274893"/>
                  <a:pt x="14910" y="286700"/>
                </a:cubicBezTo>
                <a:cubicBezTo>
                  <a:pt x="17124" y="297032"/>
                  <a:pt x="19338" y="307363"/>
                  <a:pt x="22290" y="316957"/>
                </a:cubicBezTo>
                <a:cubicBezTo>
                  <a:pt x="22290" y="317695"/>
                  <a:pt x="23028" y="319171"/>
                  <a:pt x="23028" y="320646"/>
                </a:cubicBezTo>
                <a:cubicBezTo>
                  <a:pt x="24504" y="327288"/>
                  <a:pt x="26718" y="333192"/>
                  <a:pt x="28194" y="339096"/>
                </a:cubicBezTo>
                <a:cubicBezTo>
                  <a:pt x="23766" y="342785"/>
                  <a:pt x="20076" y="344999"/>
                  <a:pt x="15648" y="350903"/>
                </a:cubicBezTo>
                <a:cubicBezTo>
                  <a:pt x="9007" y="361235"/>
                  <a:pt x="3841" y="375994"/>
                  <a:pt x="6055" y="393705"/>
                </a:cubicBezTo>
                <a:cubicBezTo>
                  <a:pt x="11958" y="444625"/>
                  <a:pt x="43691" y="462336"/>
                  <a:pt x="54023" y="467502"/>
                </a:cubicBezTo>
                <a:cubicBezTo>
                  <a:pt x="57712" y="491117"/>
                  <a:pt x="70258" y="520635"/>
                  <a:pt x="90183" y="550154"/>
                </a:cubicBezTo>
                <a:cubicBezTo>
                  <a:pt x="111584" y="581887"/>
                  <a:pt x="141103" y="612881"/>
                  <a:pt x="177263" y="630592"/>
                </a:cubicBezTo>
                <a:cubicBezTo>
                  <a:pt x="178001" y="630592"/>
                  <a:pt x="178739" y="631330"/>
                  <a:pt x="178739" y="632068"/>
                </a:cubicBezTo>
                <a:cubicBezTo>
                  <a:pt x="192023" y="647566"/>
                  <a:pt x="209733" y="658635"/>
                  <a:pt x="231872" y="658635"/>
                </a:cubicBezTo>
                <a:cubicBezTo>
                  <a:pt x="253274" y="658635"/>
                  <a:pt x="271723" y="647566"/>
                  <a:pt x="285006" y="632068"/>
                </a:cubicBezTo>
                <a:cubicBezTo>
                  <a:pt x="285744" y="632068"/>
                  <a:pt x="286482" y="631330"/>
                  <a:pt x="286482" y="630592"/>
                </a:cubicBezTo>
                <a:cubicBezTo>
                  <a:pt x="322643" y="612881"/>
                  <a:pt x="351423" y="582625"/>
                  <a:pt x="372824" y="550154"/>
                </a:cubicBezTo>
                <a:cubicBezTo>
                  <a:pt x="392750" y="520635"/>
                  <a:pt x="404557" y="491117"/>
                  <a:pt x="408984" y="467502"/>
                </a:cubicBezTo>
                <a:cubicBezTo>
                  <a:pt x="419316" y="462336"/>
                  <a:pt x="451787" y="444625"/>
                  <a:pt x="458428" y="393705"/>
                </a:cubicBezTo>
                <a:cubicBezTo>
                  <a:pt x="460642" y="375994"/>
                  <a:pt x="455477" y="361235"/>
                  <a:pt x="448097" y="350903"/>
                </a:cubicBezTo>
                <a:cubicBezTo>
                  <a:pt x="443669" y="344999"/>
                  <a:pt x="439979" y="342785"/>
                  <a:pt x="435552" y="339096"/>
                </a:cubicBezTo>
                <a:cubicBezTo>
                  <a:pt x="437765" y="331716"/>
                  <a:pt x="440717" y="323598"/>
                  <a:pt x="442931" y="314005"/>
                </a:cubicBezTo>
                <a:cubicBezTo>
                  <a:pt x="442931" y="313267"/>
                  <a:pt x="442931" y="312529"/>
                  <a:pt x="443669" y="312529"/>
                </a:cubicBezTo>
                <a:cubicBezTo>
                  <a:pt x="443669" y="311791"/>
                  <a:pt x="444407" y="310315"/>
                  <a:pt x="444407" y="309577"/>
                </a:cubicBezTo>
                <a:cubicBezTo>
                  <a:pt x="446621" y="299983"/>
                  <a:pt x="448835" y="289652"/>
                  <a:pt x="450311" y="280058"/>
                </a:cubicBezTo>
                <a:cubicBezTo>
                  <a:pt x="452525" y="268989"/>
                  <a:pt x="454738" y="257919"/>
                  <a:pt x="455477" y="247588"/>
                </a:cubicBezTo>
                <a:cubicBezTo>
                  <a:pt x="456215" y="244636"/>
                  <a:pt x="456215" y="241684"/>
                  <a:pt x="456215" y="237994"/>
                </a:cubicBezTo>
                <a:cubicBezTo>
                  <a:pt x="456952" y="232090"/>
                  <a:pt x="456952" y="226925"/>
                  <a:pt x="457691" y="221021"/>
                </a:cubicBezTo>
                <a:cubicBezTo>
                  <a:pt x="457691" y="215117"/>
                  <a:pt x="458428" y="209951"/>
                  <a:pt x="458428" y="204786"/>
                </a:cubicBezTo>
                <a:cubicBezTo>
                  <a:pt x="458428" y="201096"/>
                  <a:pt x="458428" y="196668"/>
                  <a:pt x="457691" y="192240"/>
                </a:cubicBezTo>
                <a:cubicBezTo>
                  <a:pt x="457691" y="191502"/>
                  <a:pt x="457691" y="190764"/>
                  <a:pt x="457691" y="190764"/>
                </a:cubicBezTo>
                <a:cubicBezTo>
                  <a:pt x="457691" y="187074"/>
                  <a:pt x="456952" y="184123"/>
                  <a:pt x="456215" y="180433"/>
                </a:cubicBezTo>
                <a:cubicBezTo>
                  <a:pt x="456215" y="178219"/>
                  <a:pt x="455477" y="176005"/>
                  <a:pt x="455477" y="174529"/>
                </a:cubicBezTo>
                <a:cubicBezTo>
                  <a:pt x="455477" y="172315"/>
                  <a:pt x="454738" y="170101"/>
                  <a:pt x="454738" y="168625"/>
                </a:cubicBezTo>
                <a:cubicBezTo>
                  <a:pt x="454738" y="167149"/>
                  <a:pt x="454001" y="165673"/>
                  <a:pt x="454001" y="163460"/>
                </a:cubicBezTo>
                <a:cubicBezTo>
                  <a:pt x="453262" y="161246"/>
                  <a:pt x="452525" y="159032"/>
                  <a:pt x="452525" y="156080"/>
                </a:cubicBezTo>
                <a:cubicBezTo>
                  <a:pt x="451787" y="154604"/>
                  <a:pt x="451787" y="153128"/>
                  <a:pt x="451049" y="151652"/>
                </a:cubicBezTo>
                <a:cubicBezTo>
                  <a:pt x="450311" y="149438"/>
                  <a:pt x="449573" y="146486"/>
                  <a:pt x="448835" y="144272"/>
                </a:cubicBezTo>
                <a:cubicBezTo>
                  <a:pt x="448097" y="142796"/>
                  <a:pt x="448097" y="141321"/>
                  <a:pt x="447359" y="140583"/>
                </a:cubicBezTo>
                <a:cubicBezTo>
                  <a:pt x="446621" y="138369"/>
                  <a:pt x="445145" y="136155"/>
                  <a:pt x="444407" y="133203"/>
                </a:cubicBezTo>
                <a:cubicBezTo>
                  <a:pt x="442931" y="129513"/>
                  <a:pt x="440717" y="125823"/>
                  <a:pt x="439241" y="122133"/>
                </a:cubicBezTo>
                <a:cubicBezTo>
                  <a:pt x="438503" y="120657"/>
                  <a:pt x="437765" y="119182"/>
                  <a:pt x="437028" y="117706"/>
                </a:cubicBezTo>
                <a:cubicBezTo>
                  <a:pt x="435552" y="115492"/>
                  <a:pt x="434076" y="114016"/>
                  <a:pt x="433338" y="111802"/>
                </a:cubicBezTo>
                <a:cubicBezTo>
                  <a:pt x="432599" y="110326"/>
                  <a:pt x="431862" y="108850"/>
                  <a:pt x="430386" y="107374"/>
                </a:cubicBezTo>
                <a:cubicBezTo>
                  <a:pt x="428910" y="105898"/>
                  <a:pt x="428172" y="103684"/>
                  <a:pt x="426696" y="102208"/>
                </a:cubicBezTo>
                <a:cubicBezTo>
                  <a:pt x="425958" y="100732"/>
                  <a:pt x="424482" y="99256"/>
                  <a:pt x="423006" y="98518"/>
                </a:cubicBezTo>
                <a:cubicBezTo>
                  <a:pt x="421530" y="97043"/>
                  <a:pt x="420054" y="94829"/>
                  <a:pt x="418578" y="93353"/>
                </a:cubicBezTo>
                <a:cubicBezTo>
                  <a:pt x="417102" y="91877"/>
                  <a:pt x="415626" y="90401"/>
                  <a:pt x="414150" y="89663"/>
                </a:cubicBezTo>
                <a:cubicBezTo>
                  <a:pt x="411199" y="86711"/>
                  <a:pt x="407509" y="84497"/>
                  <a:pt x="404557" y="82283"/>
                </a:cubicBezTo>
                <a:cubicBezTo>
                  <a:pt x="390535" y="72690"/>
                  <a:pt x="373562" y="66048"/>
                  <a:pt x="353637" y="64572"/>
                </a:cubicBezTo>
                <a:cubicBezTo>
                  <a:pt x="349947" y="58668"/>
                  <a:pt x="343306" y="51289"/>
                  <a:pt x="335188" y="43909"/>
                </a:cubicBezTo>
                <a:cubicBezTo>
                  <a:pt x="332236" y="40957"/>
                  <a:pt x="328546" y="38005"/>
                  <a:pt x="324857" y="35053"/>
                </a:cubicBezTo>
                <a:cubicBezTo>
                  <a:pt x="324118" y="35053"/>
                  <a:pt x="324118" y="34315"/>
                  <a:pt x="323380" y="34315"/>
                </a:cubicBezTo>
                <a:cubicBezTo>
                  <a:pt x="322643" y="34315"/>
                  <a:pt x="322643" y="33577"/>
                  <a:pt x="321904" y="33577"/>
                </a:cubicBezTo>
                <a:cubicBezTo>
                  <a:pt x="318215" y="30626"/>
                  <a:pt x="313787" y="28412"/>
                  <a:pt x="309359" y="26198"/>
                </a:cubicBezTo>
                <a:cubicBezTo>
                  <a:pt x="295338" y="18818"/>
                  <a:pt x="277626" y="12176"/>
                  <a:pt x="255487" y="9225"/>
                </a:cubicBezTo>
                <a:cubicBezTo>
                  <a:pt x="254750" y="9225"/>
                  <a:pt x="253274" y="9225"/>
                  <a:pt x="252536" y="8487"/>
                </a:cubicBezTo>
                <a:cubicBezTo>
                  <a:pt x="251798" y="8487"/>
                  <a:pt x="251060" y="8487"/>
                  <a:pt x="249584" y="8487"/>
                </a:cubicBezTo>
                <a:cubicBezTo>
                  <a:pt x="240728" y="6273"/>
                  <a:pt x="234087" y="5535"/>
                  <a:pt x="226707" y="5535"/>
                </a:cubicBezTo>
                <a:close/>
                <a:moveTo>
                  <a:pt x="336664" y="181171"/>
                </a:moveTo>
                <a:cubicBezTo>
                  <a:pt x="350685" y="203310"/>
                  <a:pt x="372086" y="244636"/>
                  <a:pt x="372086" y="288914"/>
                </a:cubicBezTo>
                <a:cubicBezTo>
                  <a:pt x="372086" y="312529"/>
                  <a:pt x="381680" y="351641"/>
                  <a:pt x="413413" y="356069"/>
                </a:cubicBezTo>
                <a:cubicBezTo>
                  <a:pt x="416364" y="358283"/>
                  <a:pt x="420054" y="361235"/>
                  <a:pt x="423006" y="366400"/>
                </a:cubicBezTo>
                <a:cubicBezTo>
                  <a:pt x="426696" y="372304"/>
                  <a:pt x="429648" y="379684"/>
                  <a:pt x="428172" y="390015"/>
                </a:cubicBezTo>
                <a:cubicBezTo>
                  <a:pt x="423006" y="435769"/>
                  <a:pt x="391274" y="444625"/>
                  <a:pt x="391274" y="444625"/>
                </a:cubicBezTo>
                <a:cubicBezTo>
                  <a:pt x="386108" y="446101"/>
                  <a:pt x="382418" y="451267"/>
                  <a:pt x="381680" y="456432"/>
                </a:cubicBezTo>
                <a:cubicBezTo>
                  <a:pt x="380204" y="471930"/>
                  <a:pt x="368396" y="503662"/>
                  <a:pt x="348472" y="533181"/>
                </a:cubicBezTo>
                <a:cubicBezTo>
                  <a:pt x="328546" y="562700"/>
                  <a:pt x="301979" y="590742"/>
                  <a:pt x="271723" y="604764"/>
                </a:cubicBezTo>
                <a:cubicBezTo>
                  <a:pt x="269509" y="605502"/>
                  <a:pt x="267295" y="607715"/>
                  <a:pt x="265819" y="609929"/>
                </a:cubicBezTo>
                <a:cubicBezTo>
                  <a:pt x="258440" y="620999"/>
                  <a:pt x="245156" y="629117"/>
                  <a:pt x="230397" y="629117"/>
                </a:cubicBezTo>
                <a:cubicBezTo>
                  <a:pt x="215638" y="629117"/>
                  <a:pt x="202354" y="621737"/>
                  <a:pt x="194974" y="609929"/>
                </a:cubicBezTo>
                <a:cubicBezTo>
                  <a:pt x="193499" y="607715"/>
                  <a:pt x="191284" y="606240"/>
                  <a:pt x="189070" y="604764"/>
                </a:cubicBezTo>
                <a:cubicBezTo>
                  <a:pt x="158814" y="590742"/>
                  <a:pt x="131509" y="562700"/>
                  <a:pt x="112322" y="533181"/>
                </a:cubicBezTo>
                <a:cubicBezTo>
                  <a:pt x="92397" y="503662"/>
                  <a:pt x="80589" y="471930"/>
                  <a:pt x="78375" y="456432"/>
                </a:cubicBezTo>
                <a:cubicBezTo>
                  <a:pt x="77638" y="451267"/>
                  <a:pt x="73948" y="446839"/>
                  <a:pt x="68782" y="444625"/>
                </a:cubicBezTo>
                <a:cubicBezTo>
                  <a:pt x="68782" y="444625"/>
                  <a:pt x="37049" y="435031"/>
                  <a:pt x="31884" y="389277"/>
                </a:cubicBezTo>
                <a:cubicBezTo>
                  <a:pt x="30408" y="378946"/>
                  <a:pt x="33360" y="371566"/>
                  <a:pt x="37049" y="365662"/>
                </a:cubicBezTo>
                <a:cubicBezTo>
                  <a:pt x="38526" y="363449"/>
                  <a:pt x="40739" y="361235"/>
                  <a:pt x="42215" y="359759"/>
                </a:cubicBezTo>
                <a:cubicBezTo>
                  <a:pt x="43691" y="359759"/>
                  <a:pt x="44429" y="360497"/>
                  <a:pt x="45905" y="360497"/>
                </a:cubicBezTo>
                <a:cubicBezTo>
                  <a:pt x="73948" y="360497"/>
                  <a:pt x="83541" y="314005"/>
                  <a:pt x="88707" y="289652"/>
                </a:cubicBezTo>
                <a:cubicBezTo>
                  <a:pt x="97563" y="245374"/>
                  <a:pt x="146268" y="232828"/>
                  <a:pt x="216375" y="232828"/>
                </a:cubicBezTo>
                <a:cubicBezTo>
                  <a:pt x="282055" y="232090"/>
                  <a:pt x="318953" y="201834"/>
                  <a:pt x="336664" y="181171"/>
                </a:cubicBezTo>
                <a:close/>
                <a:moveTo>
                  <a:pt x="152172" y="359759"/>
                </a:moveTo>
                <a:cubicBezTo>
                  <a:pt x="140365" y="359759"/>
                  <a:pt x="130771" y="369352"/>
                  <a:pt x="130771" y="381160"/>
                </a:cubicBezTo>
                <a:cubicBezTo>
                  <a:pt x="130771" y="392967"/>
                  <a:pt x="140365" y="402561"/>
                  <a:pt x="152172" y="402561"/>
                </a:cubicBezTo>
                <a:cubicBezTo>
                  <a:pt x="163980" y="402561"/>
                  <a:pt x="173573" y="392967"/>
                  <a:pt x="173573" y="381160"/>
                </a:cubicBezTo>
                <a:cubicBezTo>
                  <a:pt x="173573" y="369352"/>
                  <a:pt x="163980" y="359759"/>
                  <a:pt x="152172" y="359759"/>
                </a:cubicBezTo>
                <a:close/>
                <a:moveTo>
                  <a:pt x="308621" y="359759"/>
                </a:moveTo>
                <a:cubicBezTo>
                  <a:pt x="296814" y="359759"/>
                  <a:pt x="287220" y="369352"/>
                  <a:pt x="287220" y="381160"/>
                </a:cubicBezTo>
                <a:cubicBezTo>
                  <a:pt x="287220" y="392967"/>
                  <a:pt x="296814" y="402561"/>
                  <a:pt x="308621" y="402561"/>
                </a:cubicBezTo>
                <a:cubicBezTo>
                  <a:pt x="320428" y="402561"/>
                  <a:pt x="330022" y="392967"/>
                  <a:pt x="330022" y="381160"/>
                </a:cubicBezTo>
                <a:cubicBezTo>
                  <a:pt x="330022" y="369352"/>
                  <a:pt x="319691" y="359759"/>
                  <a:pt x="308621" y="35975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endParaRPr lang="en-US" sz="1799" dirty="0"/>
          </a:p>
        </p:txBody>
      </p:sp>
      <p:grpSp>
        <p:nvGrpSpPr>
          <p:cNvPr id="17" name="Group 64" title="Icon of a car">
            <a:extLst>
              <a:ext uri="{FF2B5EF4-FFF2-40B4-BE49-F238E27FC236}">
                <a16:creationId xmlns:a16="http://schemas.microsoft.com/office/drawing/2014/main" id="{3FA62FE4-7871-444D-AA48-8027049E4920}"/>
              </a:ext>
            </a:extLst>
          </p:cNvPr>
          <p:cNvGrpSpPr>
            <a:grpSpLocks/>
          </p:cNvGrpSpPr>
          <p:nvPr/>
        </p:nvGrpSpPr>
        <p:grpSpPr bwMode="auto">
          <a:xfrm>
            <a:off x="5617148" y="3345260"/>
            <a:ext cx="818937" cy="576112"/>
            <a:chOff x="8340054" y="2449652"/>
            <a:chExt cx="819143" cy="575614"/>
          </a:xfrm>
          <a:solidFill>
            <a:schemeClr val="accent4"/>
          </a:solidFill>
        </p:grpSpPr>
        <p:sp>
          <p:nvSpPr>
            <p:cNvPr id="18" name="Freeform: Shape 53">
              <a:extLst>
                <a:ext uri="{FF2B5EF4-FFF2-40B4-BE49-F238E27FC236}">
                  <a16:creationId xmlns:a16="http://schemas.microsoft.com/office/drawing/2014/main" id="{E2DDBA87-D6E2-BE4B-84BE-4C3F3C64E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0054" y="2449652"/>
              <a:ext cx="819143" cy="575614"/>
            </a:xfrm>
            <a:custGeom>
              <a:avLst/>
              <a:gdLst>
                <a:gd name="T0" fmla="*/ 685203 w 819143"/>
                <a:gd name="T1" fmla="*/ 43171 h 575614"/>
                <a:gd name="T2" fmla="*/ 533920 w 819143"/>
                <a:gd name="T3" fmla="*/ 43171 h 575614"/>
                <a:gd name="T4" fmla="*/ 533920 w 819143"/>
                <a:gd name="T5" fmla="*/ 5535 h 575614"/>
                <a:gd name="T6" fmla="*/ 499235 w 819143"/>
                <a:gd name="T7" fmla="*/ 5535 h 575614"/>
                <a:gd name="T8" fmla="*/ 499235 w 819143"/>
                <a:gd name="T9" fmla="*/ 43171 h 575614"/>
                <a:gd name="T10" fmla="*/ 97781 w 819143"/>
                <a:gd name="T11" fmla="*/ 43171 h 575614"/>
                <a:gd name="T12" fmla="*/ 5535 w 819143"/>
                <a:gd name="T13" fmla="*/ 135417 h 575614"/>
                <a:gd name="T14" fmla="*/ 5535 w 819143"/>
                <a:gd name="T15" fmla="*/ 445363 h 575614"/>
                <a:gd name="T16" fmla="*/ 97781 w 819143"/>
                <a:gd name="T17" fmla="*/ 537609 h 575614"/>
                <a:gd name="T18" fmla="*/ 499235 w 819143"/>
                <a:gd name="T19" fmla="*/ 537609 h 575614"/>
                <a:gd name="T20" fmla="*/ 499235 w 819143"/>
                <a:gd name="T21" fmla="*/ 573769 h 575614"/>
                <a:gd name="T22" fmla="*/ 533920 w 819143"/>
                <a:gd name="T23" fmla="*/ 573769 h 575614"/>
                <a:gd name="T24" fmla="*/ 533920 w 819143"/>
                <a:gd name="T25" fmla="*/ 537609 h 575614"/>
                <a:gd name="T26" fmla="*/ 685203 w 819143"/>
                <a:gd name="T27" fmla="*/ 537609 h 575614"/>
                <a:gd name="T28" fmla="*/ 815823 w 819143"/>
                <a:gd name="T29" fmla="*/ 406989 h 575614"/>
                <a:gd name="T30" fmla="*/ 815823 w 819143"/>
                <a:gd name="T31" fmla="*/ 173791 h 575614"/>
                <a:gd name="T32" fmla="*/ 685203 w 819143"/>
                <a:gd name="T33" fmla="*/ 43171 h 575614"/>
                <a:gd name="T34" fmla="*/ 459384 w 819143"/>
                <a:gd name="T35" fmla="*/ 76380 h 575614"/>
                <a:gd name="T36" fmla="*/ 418058 w 819143"/>
                <a:gd name="T37" fmla="*/ 115492 h 575614"/>
                <a:gd name="T38" fmla="*/ 257182 w 819143"/>
                <a:gd name="T39" fmla="*/ 115492 h 575614"/>
                <a:gd name="T40" fmla="*/ 218070 w 819143"/>
                <a:gd name="T41" fmla="*/ 77117 h 575614"/>
                <a:gd name="T42" fmla="*/ 459384 w 819143"/>
                <a:gd name="T43" fmla="*/ 76380 h 575614"/>
                <a:gd name="T44" fmla="*/ 220284 w 819143"/>
                <a:gd name="T45" fmla="*/ 502924 h 575614"/>
                <a:gd name="T46" fmla="*/ 261610 w 819143"/>
                <a:gd name="T47" fmla="*/ 463812 h 575614"/>
                <a:gd name="T48" fmla="*/ 422486 w 819143"/>
                <a:gd name="T49" fmla="*/ 463812 h 575614"/>
                <a:gd name="T50" fmla="*/ 461599 w 819143"/>
                <a:gd name="T51" fmla="*/ 502186 h 575614"/>
                <a:gd name="T52" fmla="*/ 220284 w 819143"/>
                <a:gd name="T53" fmla="*/ 502924 h 575614"/>
                <a:gd name="T54" fmla="*/ 509566 w 819143"/>
                <a:gd name="T55" fmla="*/ 506614 h 575614"/>
                <a:gd name="T56" fmla="*/ 435032 w 819143"/>
                <a:gd name="T57" fmla="*/ 432817 h 575614"/>
                <a:gd name="T58" fmla="*/ 249064 w 819143"/>
                <a:gd name="T59" fmla="*/ 432817 h 575614"/>
                <a:gd name="T60" fmla="*/ 171577 w 819143"/>
                <a:gd name="T61" fmla="*/ 506614 h 575614"/>
                <a:gd name="T62" fmla="*/ 98519 w 819143"/>
                <a:gd name="T63" fmla="*/ 506614 h 575614"/>
                <a:gd name="T64" fmla="*/ 37268 w 819143"/>
                <a:gd name="T65" fmla="*/ 445363 h 575614"/>
                <a:gd name="T66" fmla="*/ 37268 w 819143"/>
                <a:gd name="T67" fmla="*/ 135417 h 575614"/>
                <a:gd name="T68" fmla="*/ 98519 w 819143"/>
                <a:gd name="T69" fmla="*/ 74166 h 575614"/>
                <a:gd name="T70" fmla="*/ 172316 w 819143"/>
                <a:gd name="T71" fmla="*/ 74166 h 575614"/>
                <a:gd name="T72" fmla="*/ 246113 w 819143"/>
                <a:gd name="T73" fmla="*/ 147224 h 575614"/>
                <a:gd name="T74" fmla="*/ 432080 w 819143"/>
                <a:gd name="T75" fmla="*/ 147224 h 575614"/>
                <a:gd name="T76" fmla="*/ 508829 w 819143"/>
                <a:gd name="T77" fmla="*/ 74166 h 575614"/>
                <a:gd name="T78" fmla="*/ 686678 w 819143"/>
                <a:gd name="T79" fmla="*/ 74166 h 575614"/>
                <a:gd name="T80" fmla="*/ 746454 w 819143"/>
                <a:gd name="T81" fmla="*/ 94829 h 575614"/>
                <a:gd name="T82" fmla="*/ 730956 w 819143"/>
                <a:gd name="T83" fmla="*/ 94829 h 575614"/>
                <a:gd name="T84" fmla="*/ 730956 w 819143"/>
                <a:gd name="T85" fmla="*/ 200358 h 575614"/>
                <a:gd name="T86" fmla="*/ 786304 w 819143"/>
                <a:gd name="T87" fmla="*/ 200358 h 575614"/>
                <a:gd name="T88" fmla="*/ 786304 w 819143"/>
                <a:gd name="T89" fmla="*/ 378946 h 575614"/>
                <a:gd name="T90" fmla="*/ 730956 w 819143"/>
                <a:gd name="T91" fmla="*/ 378946 h 575614"/>
                <a:gd name="T92" fmla="*/ 730956 w 819143"/>
                <a:gd name="T93" fmla="*/ 484475 h 575614"/>
                <a:gd name="T94" fmla="*/ 748668 w 819143"/>
                <a:gd name="T95" fmla="*/ 484475 h 575614"/>
                <a:gd name="T96" fmla="*/ 685941 w 819143"/>
                <a:gd name="T97" fmla="*/ 506614 h 575614"/>
                <a:gd name="T98" fmla="*/ 509566 w 819143"/>
                <a:gd name="T99" fmla="*/ 506614 h 5756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19143" h="575614">
                  <a:moveTo>
                    <a:pt x="685203" y="43171"/>
                  </a:moveTo>
                  <a:lnTo>
                    <a:pt x="533920" y="43171"/>
                  </a:lnTo>
                  <a:lnTo>
                    <a:pt x="533920" y="5535"/>
                  </a:lnTo>
                  <a:lnTo>
                    <a:pt x="499235" y="5535"/>
                  </a:lnTo>
                  <a:lnTo>
                    <a:pt x="499235" y="43171"/>
                  </a:lnTo>
                  <a:lnTo>
                    <a:pt x="97781" y="43171"/>
                  </a:lnTo>
                  <a:cubicBezTo>
                    <a:pt x="46862" y="43171"/>
                    <a:pt x="5535" y="84497"/>
                    <a:pt x="5535" y="135417"/>
                  </a:cubicBezTo>
                  <a:lnTo>
                    <a:pt x="5535" y="445363"/>
                  </a:lnTo>
                  <a:cubicBezTo>
                    <a:pt x="5535" y="496283"/>
                    <a:pt x="46862" y="537609"/>
                    <a:pt x="97781" y="537609"/>
                  </a:cubicBezTo>
                  <a:lnTo>
                    <a:pt x="499235" y="537609"/>
                  </a:lnTo>
                  <a:lnTo>
                    <a:pt x="499235" y="573769"/>
                  </a:lnTo>
                  <a:lnTo>
                    <a:pt x="533920" y="573769"/>
                  </a:lnTo>
                  <a:lnTo>
                    <a:pt x="533920" y="537609"/>
                  </a:lnTo>
                  <a:lnTo>
                    <a:pt x="685203" y="537609"/>
                  </a:lnTo>
                  <a:cubicBezTo>
                    <a:pt x="757523" y="537609"/>
                    <a:pt x="815823" y="479309"/>
                    <a:pt x="815823" y="406989"/>
                  </a:cubicBezTo>
                  <a:lnTo>
                    <a:pt x="815823" y="173791"/>
                  </a:lnTo>
                  <a:cubicBezTo>
                    <a:pt x="815823" y="101470"/>
                    <a:pt x="757523" y="43171"/>
                    <a:pt x="685203" y="43171"/>
                  </a:cubicBezTo>
                  <a:close/>
                  <a:moveTo>
                    <a:pt x="459384" y="76380"/>
                  </a:moveTo>
                  <a:lnTo>
                    <a:pt x="418058" y="115492"/>
                  </a:lnTo>
                  <a:lnTo>
                    <a:pt x="257182" y="115492"/>
                  </a:lnTo>
                  <a:lnTo>
                    <a:pt x="218070" y="77117"/>
                  </a:lnTo>
                  <a:lnTo>
                    <a:pt x="459384" y="76380"/>
                  </a:lnTo>
                  <a:close/>
                  <a:moveTo>
                    <a:pt x="220284" y="502924"/>
                  </a:moveTo>
                  <a:lnTo>
                    <a:pt x="261610" y="463812"/>
                  </a:lnTo>
                  <a:lnTo>
                    <a:pt x="422486" y="463812"/>
                  </a:lnTo>
                  <a:lnTo>
                    <a:pt x="461599" y="502186"/>
                  </a:lnTo>
                  <a:lnTo>
                    <a:pt x="220284" y="502924"/>
                  </a:lnTo>
                  <a:close/>
                  <a:moveTo>
                    <a:pt x="509566" y="506614"/>
                  </a:moveTo>
                  <a:lnTo>
                    <a:pt x="435032" y="432817"/>
                  </a:lnTo>
                  <a:lnTo>
                    <a:pt x="249064" y="432817"/>
                  </a:lnTo>
                  <a:lnTo>
                    <a:pt x="171577" y="506614"/>
                  </a:lnTo>
                  <a:lnTo>
                    <a:pt x="98519" y="506614"/>
                  </a:lnTo>
                  <a:cubicBezTo>
                    <a:pt x="64572" y="506614"/>
                    <a:pt x="37268" y="479309"/>
                    <a:pt x="37268" y="445363"/>
                  </a:cubicBezTo>
                  <a:lnTo>
                    <a:pt x="37268" y="135417"/>
                  </a:lnTo>
                  <a:cubicBezTo>
                    <a:pt x="37268" y="101470"/>
                    <a:pt x="64572" y="74166"/>
                    <a:pt x="98519" y="74166"/>
                  </a:cubicBezTo>
                  <a:lnTo>
                    <a:pt x="172316" y="74166"/>
                  </a:lnTo>
                  <a:lnTo>
                    <a:pt x="246113" y="147224"/>
                  </a:lnTo>
                  <a:lnTo>
                    <a:pt x="432080" y="147224"/>
                  </a:lnTo>
                  <a:lnTo>
                    <a:pt x="508829" y="74166"/>
                  </a:lnTo>
                  <a:lnTo>
                    <a:pt x="686678" y="74166"/>
                  </a:lnTo>
                  <a:cubicBezTo>
                    <a:pt x="709555" y="74166"/>
                    <a:pt x="730219" y="81545"/>
                    <a:pt x="746454" y="94829"/>
                  </a:cubicBezTo>
                  <a:lnTo>
                    <a:pt x="730956" y="94829"/>
                  </a:lnTo>
                  <a:lnTo>
                    <a:pt x="730956" y="200358"/>
                  </a:lnTo>
                  <a:lnTo>
                    <a:pt x="786304" y="200358"/>
                  </a:lnTo>
                  <a:lnTo>
                    <a:pt x="786304" y="378946"/>
                  </a:lnTo>
                  <a:lnTo>
                    <a:pt x="730956" y="378946"/>
                  </a:lnTo>
                  <a:lnTo>
                    <a:pt x="730956" y="484475"/>
                  </a:lnTo>
                  <a:lnTo>
                    <a:pt x="748668" y="484475"/>
                  </a:lnTo>
                  <a:cubicBezTo>
                    <a:pt x="731694" y="498496"/>
                    <a:pt x="709555" y="506614"/>
                    <a:pt x="685941" y="506614"/>
                  </a:cubicBezTo>
                  <a:lnTo>
                    <a:pt x="509566" y="5066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 sz="1799" dirty="0"/>
            </a:p>
          </p:txBody>
        </p:sp>
        <p:sp>
          <p:nvSpPr>
            <p:cNvPr id="19" name="Freeform: Shape 54">
              <a:extLst>
                <a:ext uri="{FF2B5EF4-FFF2-40B4-BE49-F238E27FC236}">
                  <a16:creationId xmlns:a16="http://schemas.microsoft.com/office/drawing/2014/main" id="{6847AAC1-0970-DD4C-8972-C306653ED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7689" y="2659235"/>
              <a:ext cx="36898" cy="147593"/>
            </a:xfrm>
            <a:custGeom>
              <a:avLst/>
              <a:gdLst>
                <a:gd name="T0" fmla="*/ 5535 w 36898"/>
                <a:gd name="T1" fmla="*/ 5535 h 147593"/>
                <a:gd name="T2" fmla="*/ 36529 w 36898"/>
                <a:gd name="T3" fmla="*/ 5535 h 147593"/>
                <a:gd name="T4" fmla="*/ 36529 w 36898"/>
                <a:gd name="T5" fmla="*/ 147962 h 147593"/>
                <a:gd name="T6" fmla="*/ 5535 w 36898"/>
                <a:gd name="T7" fmla="*/ 147962 h 1475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898" h="147593">
                  <a:moveTo>
                    <a:pt x="5535" y="5535"/>
                  </a:moveTo>
                  <a:lnTo>
                    <a:pt x="36529" y="5535"/>
                  </a:lnTo>
                  <a:lnTo>
                    <a:pt x="36529" y="147962"/>
                  </a:lnTo>
                  <a:lnTo>
                    <a:pt x="5535" y="147962"/>
                  </a:lnTo>
                  <a:lnTo>
                    <a:pt x="5535" y="5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 sz="1799" dirty="0"/>
            </a:p>
          </p:txBody>
        </p:sp>
        <p:sp>
          <p:nvSpPr>
            <p:cNvPr id="20" name="Freeform: Shape 55">
              <a:extLst>
                <a:ext uri="{FF2B5EF4-FFF2-40B4-BE49-F238E27FC236}">
                  <a16:creationId xmlns:a16="http://schemas.microsoft.com/office/drawing/2014/main" id="{3DDF83D2-6892-B342-90C8-A022691B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070" y="2550753"/>
              <a:ext cx="147593" cy="376363"/>
            </a:xfrm>
            <a:custGeom>
              <a:avLst/>
              <a:gdLst>
                <a:gd name="T0" fmla="*/ 97781 w 147593"/>
                <a:gd name="T1" fmla="*/ 5535 h 376363"/>
                <a:gd name="T2" fmla="*/ 5535 w 147593"/>
                <a:gd name="T3" fmla="*/ 94829 h 376363"/>
                <a:gd name="T4" fmla="*/ 5535 w 147593"/>
                <a:gd name="T5" fmla="*/ 280796 h 376363"/>
                <a:gd name="T6" fmla="*/ 99256 w 147593"/>
                <a:gd name="T7" fmla="*/ 375256 h 376363"/>
                <a:gd name="T8" fmla="*/ 108850 w 147593"/>
                <a:gd name="T9" fmla="*/ 354593 h 376363"/>
                <a:gd name="T10" fmla="*/ 108112 w 147593"/>
                <a:gd name="T11" fmla="*/ 23246 h 376363"/>
                <a:gd name="T12" fmla="*/ 97781 w 147593"/>
                <a:gd name="T13" fmla="*/ 5535 h 376363"/>
                <a:gd name="T14" fmla="*/ 88924 w 147593"/>
                <a:gd name="T15" fmla="*/ 321385 h 376363"/>
                <a:gd name="T16" fmla="*/ 36529 w 147593"/>
                <a:gd name="T17" fmla="*/ 268251 h 376363"/>
                <a:gd name="T18" fmla="*/ 36529 w 147593"/>
                <a:gd name="T19" fmla="*/ 108112 h 376363"/>
                <a:gd name="T20" fmla="*/ 88924 w 147593"/>
                <a:gd name="T21" fmla="*/ 57930 h 376363"/>
                <a:gd name="T22" fmla="*/ 88924 w 147593"/>
                <a:gd name="T23" fmla="*/ 321385 h 3763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7593" h="376363">
                  <a:moveTo>
                    <a:pt x="97781" y="5535"/>
                  </a:moveTo>
                  <a:lnTo>
                    <a:pt x="5535" y="94829"/>
                  </a:lnTo>
                  <a:lnTo>
                    <a:pt x="5535" y="280796"/>
                  </a:lnTo>
                  <a:lnTo>
                    <a:pt x="99256" y="375256"/>
                  </a:lnTo>
                  <a:lnTo>
                    <a:pt x="108850" y="354593"/>
                  </a:lnTo>
                  <a:cubicBezTo>
                    <a:pt x="158294" y="246112"/>
                    <a:pt x="158294" y="122872"/>
                    <a:pt x="108112" y="23246"/>
                  </a:cubicBezTo>
                  <a:lnTo>
                    <a:pt x="97781" y="5535"/>
                  </a:lnTo>
                  <a:close/>
                  <a:moveTo>
                    <a:pt x="88924" y="321385"/>
                  </a:moveTo>
                  <a:lnTo>
                    <a:pt x="36529" y="268251"/>
                  </a:lnTo>
                  <a:lnTo>
                    <a:pt x="36529" y="108112"/>
                  </a:lnTo>
                  <a:lnTo>
                    <a:pt x="88924" y="57930"/>
                  </a:lnTo>
                  <a:cubicBezTo>
                    <a:pt x="122872" y="138369"/>
                    <a:pt x="122872" y="233567"/>
                    <a:pt x="88924" y="3213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 sz="1799" dirty="0"/>
            </a:p>
          </p:txBody>
        </p:sp>
        <p:sp>
          <p:nvSpPr>
            <p:cNvPr id="21" name="Freeform: Shape 56">
              <a:extLst>
                <a:ext uri="{FF2B5EF4-FFF2-40B4-BE49-F238E27FC236}">
                  <a16:creationId xmlns:a16="http://schemas.microsoft.com/office/drawing/2014/main" id="{11925AA4-BD66-D84A-A135-B4BBDD81B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4643" y="2545588"/>
              <a:ext cx="132834" cy="383743"/>
            </a:xfrm>
            <a:custGeom>
              <a:avLst/>
              <a:gdLst>
                <a:gd name="T0" fmla="*/ 28690 w 132834"/>
                <a:gd name="T1" fmla="*/ 31364 h 383742"/>
                <a:gd name="T2" fmla="*/ 29427 w 132834"/>
                <a:gd name="T3" fmla="*/ 358284 h 383742"/>
                <a:gd name="T4" fmla="*/ 36807 w 132834"/>
                <a:gd name="T5" fmla="*/ 383375 h 383742"/>
                <a:gd name="T6" fmla="*/ 129053 w 132834"/>
                <a:gd name="T7" fmla="*/ 289653 h 383742"/>
                <a:gd name="T8" fmla="*/ 129053 w 132834"/>
                <a:gd name="T9" fmla="*/ 103684 h 383742"/>
                <a:gd name="T10" fmla="*/ 36069 w 132834"/>
                <a:gd name="T11" fmla="*/ 5535 h 383742"/>
                <a:gd name="T12" fmla="*/ 28690 w 132834"/>
                <a:gd name="T13" fmla="*/ 31364 h 383742"/>
                <a:gd name="T14" fmla="*/ 50829 w 132834"/>
                <a:gd name="T15" fmla="*/ 66786 h 383742"/>
                <a:gd name="T16" fmla="*/ 98058 w 132834"/>
                <a:gd name="T17" fmla="*/ 116230 h 383742"/>
                <a:gd name="T18" fmla="*/ 98058 w 132834"/>
                <a:gd name="T19" fmla="*/ 277108 h 383742"/>
                <a:gd name="T20" fmla="*/ 52304 w 132834"/>
                <a:gd name="T21" fmla="*/ 323599 h 383742"/>
                <a:gd name="T22" fmla="*/ 50829 w 132834"/>
                <a:gd name="T23" fmla="*/ 66786 h 3837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2834" h="383742">
                  <a:moveTo>
                    <a:pt x="28690" y="31364"/>
                  </a:moveTo>
                  <a:cubicBezTo>
                    <a:pt x="-2305" y="130989"/>
                    <a:pt x="-2305" y="253492"/>
                    <a:pt x="29427" y="358283"/>
                  </a:cubicBezTo>
                  <a:lnTo>
                    <a:pt x="36807" y="383374"/>
                  </a:lnTo>
                  <a:lnTo>
                    <a:pt x="129053" y="289652"/>
                  </a:lnTo>
                  <a:lnTo>
                    <a:pt x="129053" y="103684"/>
                  </a:lnTo>
                  <a:lnTo>
                    <a:pt x="36069" y="5535"/>
                  </a:lnTo>
                  <a:lnTo>
                    <a:pt x="28690" y="31364"/>
                  </a:lnTo>
                  <a:close/>
                  <a:moveTo>
                    <a:pt x="50829" y="66786"/>
                  </a:moveTo>
                  <a:lnTo>
                    <a:pt x="98058" y="116230"/>
                  </a:lnTo>
                  <a:lnTo>
                    <a:pt x="98058" y="277107"/>
                  </a:lnTo>
                  <a:lnTo>
                    <a:pt x="52304" y="323598"/>
                  </a:lnTo>
                  <a:cubicBezTo>
                    <a:pt x="31641" y="240208"/>
                    <a:pt x="30903" y="147224"/>
                    <a:pt x="50829" y="667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 sz="1799" dirty="0"/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698899-451C-4012-A03B-438076B22A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42ED92-E0E5-43BF-A314-F5F899A21C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59AE5F-3A9D-4E5B-BE20-3802EE56C0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FD1FD8-37C4-4591-A698-CB3B4B2DE0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2" name="Group 63" title="Icon of a mobile phone">
            <a:extLst>
              <a:ext uri="{FF2B5EF4-FFF2-40B4-BE49-F238E27FC236}">
                <a16:creationId xmlns:a16="http://schemas.microsoft.com/office/drawing/2014/main" id="{902717CD-9CC4-8F4C-BC52-0985754F7DFE}"/>
              </a:ext>
            </a:extLst>
          </p:cNvPr>
          <p:cNvGrpSpPr>
            <a:grpSpLocks/>
          </p:cNvGrpSpPr>
          <p:nvPr/>
        </p:nvGrpSpPr>
        <p:grpSpPr bwMode="auto">
          <a:xfrm>
            <a:off x="7916862" y="3223369"/>
            <a:ext cx="338049" cy="568177"/>
            <a:chOff x="6461929" y="2474005"/>
            <a:chExt cx="339465" cy="568234"/>
          </a:xfrm>
          <a:solidFill>
            <a:schemeClr val="accent5"/>
          </a:solidFill>
        </p:grpSpPr>
        <p:sp>
          <p:nvSpPr>
            <p:cNvPr id="23" name="Freeform: Shape 50">
              <a:extLst>
                <a:ext uri="{FF2B5EF4-FFF2-40B4-BE49-F238E27FC236}">
                  <a16:creationId xmlns:a16="http://schemas.microsoft.com/office/drawing/2014/main" id="{70FD186F-6F55-1540-9B01-58F807909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929" y="2474005"/>
              <a:ext cx="339465" cy="568234"/>
            </a:xfrm>
            <a:custGeom>
              <a:avLst/>
              <a:gdLst>
                <a:gd name="T0" fmla="*/ 5535 w 339464"/>
                <a:gd name="T1" fmla="*/ 5535 h 568234"/>
                <a:gd name="T2" fmla="*/ 5535 w 339464"/>
                <a:gd name="T3" fmla="*/ 564914 h 568234"/>
                <a:gd name="T4" fmla="*/ 338359 w 339464"/>
                <a:gd name="T5" fmla="*/ 564914 h 568234"/>
                <a:gd name="T6" fmla="*/ 338359 w 339464"/>
                <a:gd name="T7" fmla="*/ 5535 h 568234"/>
                <a:gd name="T8" fmla="*/ 5535 w 339464"/>
                <a:gd name="T9" fmla="*/ 5535 h 568234"/>
                <a:gd name="T10" fmla="*/ 308840 w 339464"/>
                <a:gd name="T11" fmla="*/ 35053 h 568234"/>
                <a:gd name="T12" fmla="*/ 308840 w 339464"/>
                <a:gd name="T13" fmla="*/ 79331 h 568234"/>
                <a:gd name="T14" fmla="*/ 35053 w 339464"/>
                <a:gd name="T15" fmla="*/ 79331 h 568234"/>
                <a:gd name="T16" fmla="*/ 35053 w 339464"/>
                <a:gd name="T17" fmla="*/ 35053 h 568234"/>
                <a:gd name="T18" fmla="*/ 308840 w 339464"/>
                <a:gd name="T19" fmla="*/ 35053 h 568234"/>
                <a:gd name="T20" fmla="*/ 308840 w 339464"/>
                <a:gd name="T21" fmla="*/ 108850 h 568234"/>
                <a:gd name="T22" fmla="*/ 308840 w 339464"/>
                <a:gd name="T23" fmla="*/ 420272 h 568234"/>
                <a:gd name="T24" fmla="*/ 35053 w 339464"/>
                <a:gd name="T25" fmla="*/ 420272 h 568234"/>
                <a:gd name="T26" fmla="*/ 35053 w 339464"/>
                <a:gd name="T27" fmla="*/ 108850 h 568234"/>
                <a:gd name="T28" fmla="*/ 308840 w 339464"/>
                <a:gd name="T29" fmla="*/ 108850 h 568234"/>
                <a:gd name="T30" fmla="*/ 35053 w 339464"/>
                <a:gd name="T31" fmla="*/ 535395 h 568234"/>
                <a:gd name="T32" fmla="*/ 35053 w 339464"/>
                <a:gd name="T33" fmla="*/ 449791 h 568234"/>
                <a:gd name="T34" fmla="*/ 308840 w 339464"/>
                <a:gd name="T35" fmla="*/ 449791 h 568234"/>
                <a:gd name="T36" fmla="*/ 308840 w 339464"/>
                <a:gd name="T37" fmla="*/ 535395 h 568234"/>
                <a:gd name="T38" fmla="*/ 35053 w 339464"/>
                <a:gd name="T39" fmla="*/ 535395 h 5682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39464" h="568234">
                  <a:moveTo>
                    <a:pt x="5535" y="5535"/>
                  </a:moveTo>
                  <a:lnTo>
                    <a:pt x="5535" y="564914"/>
                  </a:lnTo>
                  <a:lnTo>
                    <a:pt x="338358" y="564914"/>
                  </a:lnTo>
                  <a:lnTo>
                    <a:pt x="338358" y="5535"/>
                  </a:lnTo>
                  <a:lnTo>
                    <a:pt x="5535" y="5535"/>
                  </a:lnTo>
                  <a:close/>
                  <a:moveTo>
                    <a:pt x="308839" y="35053"/>
                  </a:moveTo>
                  <a:lnTo>
                    <a:pt x="308839" y="79331"/>
                  </a:lnTo>
                  <a:lnTo>
                    <a:pt x="35053" y="79331"/>
                  </a:lnTo>
                  <a:lnTo>
                    <a:pt x="35053" y="35053"/>
                  </a:lnTo>
                  <a:lnTo>
                    <a:pt x="308839" y="35053"/>
                  </a:lnTo>
                  <a:close/>
                  <a:moveTo>
                    <a:pt x="308839" y="108850"/>
                  </a:moveTo>
                  <a:lnTo>
                    <a:pt x="308839" y="420272"/>
                  </a:lnTo>
                  <a:lnTo>
                    <a:pt x="35053" y="420272"/>
                  </a:lnTo>
                  <a:lnTo>
                    <a:pt x="35053" y="108850"/>
                  </a:lnTo>
                  <a:lnTo>
                    <a:pt x="308839" y="108850"/>
                  </a:lnTo>
                  <a:close/>
                  <a:moveTo>
                    <a:pt x="35053" y="535395"/>
                  </a:moveTo>
                  <a:lnTo>
                    <a:pt x="35053" y="449791"/>
                  </a:lnTo>
                  <a:lnTo>
                    <a:pt x="308839" y="449791"/>
                  </a:lnTo>
                  <a:lnTo>
                    <a:pt x="308839" y="535395"/>
                  </a:lnTo>
                  <a:lnTo>
                    <a:pt x="35053" y="5353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 sz="1799" dirty="0"/>
            </a:p>
          </p:txBody>
        </p:sp>
        <p:sp>
          <p:nvSpPr>
            <p:cNvPr id="24" name="Freeform: Shape 51">
              <a:extLst>
                <a:ext uri="{FF2B5EF4-FFF2-40B4-BE49-F238E27FC236}">
                  <a16:creationId xmlns:a16="http://schemas.microsoft.com/office/drawing/2014/main" id="{831FDD79-6F13-BC45-A4CE-C7CAD70A5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998" y="2936895"/>
              <a:ext cx="44278" cy="44278"/>
            </a:xfrm>
            <a:custGeom>
              <a:avLst/>
              <a:gdLst>
                <a:gd name="T0" fmla="*/ 10700 w 44278"/>
                <a:gd name="T1" fmla="*/ 10516 h 44278"/>
                <a:gd name="T2" fmla="*/ 5535 w 44278"/>
                <a:gd name="T3" fmla="*/ 23799 h 44278"/>
                <a:gd name="T4" fmla="*/ 6273 w 44278"/>
                <a:gd name="T5" fmla="*/ 27489 h 44278"/>
                <a:gd name="T6" fmla="*/ 7010 w 44278"/>
                <a:gd name="T7" fmla="*/ 31179 h 44278"/>
                <a:gd name="T8" fmla="*/ 8486 w 44278"/>
                <a:gd name="T9" fmla="*/ 34131 h 44278"/>
                <a:gd name="T10" fmla="*/ 10700 w 44278"/>
                <a:gd name="T11" fmla="*/ 37083 h 44278"/>
                <a:gd name="T12" fmla="*/ 23984 w 44278"/>
                <a:gd name="T13" fmla="*/ 42249 h 44278"/>
                <a:gd name="T14" fmla="*/ 37267 w 44278"/>
                <a:gd name="T15" fmla="*/ 37083 h 44278"/>
                <a:gd name="T16" fmla="*/ 39481 w 44278"/>
                <a:gd name="T17" fmla="*/ 34131 h 44278"/>
                <a:gd name="T18" fmla="*/ 40957 w 44278"/>
                <a:gd name="T19" fmla="*/ 31179 h 44278"/>
                <a:gd name="T20" fmla="*/ 41695 w 44278"/>
                <a:gd name="T21" fmla="*/ 27489 h 44278"/>
                <a:gd name="T22" fmla="*/ 41695 w 44278"/>
                <a:gd name="T23" fmla="*/ 23799 h 44278"/>
                <a:gd name="T24" fmla="*/ 36529 w 44278"/>
                <a:gd name="T25" fmla="*/ 10516 h 44278"/>
                <a:gd name="T26" fmla="*/ 10700 w 44278"/>
                <a:gd name="T27" fmla="*/ 10516 h 442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4278" h="44278">
                  <a:moveTo>
                    <a:pt x="10700" y="10516"/>
                  </a:moveTo>
                  <a:cubicBezTo>
                    <a:pt x="7010" y="14206"/>
                    <a:pt x="5535" y="18634"/>
                    <a:pt x="5535" y="23799"/>
                  </a:cubicBezTo>
                  <a:cubicBezTo>
                    <a:pt x="5535" y="25275"/>
                    <a:pt x="5535" y="26013"/>
                    <a:pt x="6273" y="27489"/>
                  </a:cubicBezTo>
                  <a:cubicBezTo>
                    <a:pt x="6273" y="28965"/>
                    <a:pt x="7010" y="29703"/>
                    <a:pt x="7010" y="31179"/>
                  </a:cubicBezTo>
                  <a:cubicBezTo>
                    <a:pt x="7749" y="32655"/>
                    <a:pt x="7749" y="33393"/>
                    <a:pt x="8486" y="34131"/>
                  </a:cubicBezTo>
                  <a:cubicBezTo>
                    <a:pt x="9225" y="34869"/>
                    <a:pt x="9962" y="36345"/>
                    <a:pt x="10700" y="37083"/>
                  </a:cubicBezTo>
                  <a:cubicBezTo>
                    <a:pt x="14390" y="40773"/>
                    <a:pt x="18818" y="42249"/>
                    <a:pt x="23984" y="42249"/>
                  </a:cubicBezTo>
                  <a:cubicBezTo>
                    <a:pt x="29149" y="42249"/>
                    <a:pt x="33577" y="40035"/>
                    <a:pt x="37267" y="37083"/>
                  </a:cubicBezTo>
                  <a:cubicBezTo>
                    <a:pt x="38005" y="36345"/>
                    <a:pt x="38743" y="35607"/>
                    <a:pt x="39481" y="34131"/>
                  </a:cubicBezTo>
                  <a:cubicBezTo>
                    <a:pt x="40219" y="33393"/>
                    <a:pt x="40957" y="31917"/>
                    <a:pt x="40957" y="31179"/>
                  </a:cubicBezTo>
                  <a:cubicBezTo>
                    <a:pt x="41695" y="30441"/>
                    <a:pt x="41695" y="28965"/>
                    <a:pt x="41695" y="27489"/>
                  </a:cubicBezTo>
                  <a:cubicBezTo>
                    <a:pt x="41695" y="26013"/>
                    <a:pt x="41695" y="25275"/>
                    <a:pt x="41695" y="23799"/>
                  </a:cubicBezTo>
                  <a:cubicBezTo>
                    <a:pt x="41695" y="18634"/>
                    <a:pt x="39481" y="14206"/>
                    <a:pt x="36529" y="10516"/>
                  </a:cubicBezTo>
                  <a:cubicBezTo>
                    <a:pt x="29888" y="3874"/>
                    <a:pt x="17342" y="3874"/>
                    <a:pt x="10700" y="105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 sz="1799" dirty="0"/>
            </a:p>
          </p:txBody>
        </p:sp>
      </p:grpSp>
      <p:sp>
        <p:nvSpPr>
          <p:cNvPr id="25" name="Freeform: Shape 31" title="Icon of a rocketship">
            <a:extLst>
              <a:ext uri="{FF2B5EF4-FFF2-40B4-BE49-F238E27FC236}">
                <a16:creationId xmlns:a16="http://schemas.microsoft.com/office/drawing/2014/main" id="{0A3C762B-A23D-A540-8F3C-B294080D017F}"/>
              </a:ext>
            </a:extLst>
          </p:cNvPr>
          <p:cNvSpPr>
            <a:spLocks/>
          </p:cNvSpPr>
          <p:nvPr/>
        </p:nvSpPr>
        <p:spPr bwMode="auto">
          <a:xfrm>
            <a:off x="9969510" y="3223369"/>
            <a:ext cx="384075" cy="863375"/>
          </a:xfrm>
          <a:custGeom>
            <a:avLst/>
            <a:gdLst/>
            <a:ahLst/>
            <a:cxnLst/>
            <a:rect l="0" t="0" r="r" b="b"/>
            <a:pathLst>
              <a:path w="383742" h="863421">
                <a:moveTo>
                  <a:pt x="193716" y="5535"/>
                </a:moveTo>
                <a:lnTo>
                  <a:pt x="184861" y="15128"/>
                </a:lnTo>
                <a:cubicBezTo>
                  <a:pt x="184861" y="15128"/>
                  <a:pt x="121396" y="80069"/>
                  <a:pt x="90401" y="173053"/>
                </a:cubicBezTo>
                <a:cubicBezTo>
                  <a:pt x="80069" y="202572"/>
                  <a:pt x="74166" y="236518"/>
                  <a:pt x="74166" y="272679"/>
                </a:cubicBezTo>
                <a:cubicBezTo>
                  <a:pt x="74166" y="316957"/>
                  <a:pt x="79331" y="384850"/>
                  <a:pt x="85235" y="447577"/>
                </a:cubicBezTo>
                <a:lnTo>
                  <a:pt x="5535" y="526539"/>
                </a:lnTo>
                <a:lnTo>
                  <a:pt x="16604" y="647566"/>
                </a:lnTo>
                <a:lnTo>
                  <a:pt x="99994" y="597384"/>
                </a:lnTo>
                <a:cubicBezTo>
                  <a:pt x="99994" y="598122"/>
                  <a:pt x="100733" y="604026"/>
                  <a:pt x="100733" y="604026"/>
                </a:cubicBezTo>
                <a:lnTo>
                  <a:pt x="100733" y="606240"/>
                </a:lnTo>
                <a:lnTo>
                  <a:pt x="101470" y="608453"/>
                </a:lnTo>
                <a:cubicBezTo>
                  <a:pt x="101470" y="608453"/>
                  <a:pt x="103684" y="612143"/>
                  <a:pt x="106636" y="615095"/>
                </a:cubicBezTo>
                <a:cubicBezTo>
                  <a:pt x="108112" y="615833"/>
                  <a:pt x="109588" y="617309"/>
                  <a:pt x="111064" y="618047"/>
                </a:cubicBezTo>
                <a:lnTo>
                  <a:pt x="123609" y="668967"/>
                </a:lnTo>
                <a:cubicBezTo>
                  <a:pt x="123609" y="668967"/>
                  <a:pt x="124347" y="671181"/>
                  <a:pt x="125085" y="672657"/>
                </a:cubicBezTo>
                <a:cubicBezTo>
                  <a:pt x="125823" y="674133"/>
                  <a:pt x="127299" y="674870"/>
                  <a:pt x="128037" y="676346"/>
                </a:cubicBezTo>
                <a:cubicBezTo>
                  <a:pt x="130989" y="678560"/>
                  <a:pt x="133941" y="680775"/>
                  <a:pt x="139107" y="682988"/>
                </a:cubicBezTo>
                <a:cubicBezTo>
                  <a:pt x="148700" y="686678"/>
                  <a:pt x="164198" y="689630"/>
                  <a:pt x="191502" y="689630"/>
                </a:cubicBezTo>
                <a:cubicBezTo>
                  <a:pt x="218807" y="689630"/>
                  <a:pt x="234304" y="687416"/>
                  <a:pt x="243898" y="682988"/>
                </a:cubicBezTo>
                <a:cubicBezTo>
                  <a:pt x="249064" y="680775"/>
                  <a:pt x="252016" y="678560"/>
                  <a:pt x="254967" y="676346"/>
                </a:cubicBezTo>
                <a:cubicBezTo>
                  <a:pt x="256443" y="674870"/>
                  <a:pt x="257181" y="674133"/>
                  <a:pt x="257919" y="672657"/>
                </a:cubicBezTo>
                <a:cubicBezTo>
                  <a:pt x="258657" y="671181"/>
                  <a:pt x="259395" y="668967"/>
                  <a:pt x="259395" y="668967"/>
                </a:cubicBezTo>
                <a:lnTo>
                  <a:pt x="272679" y="618047"/>
                </a:lnTo>
                <a:cubicBezTo>
                  <a:pt x="274155" y="617309"/>
                  <a:pt x="275630" y="615833"/>
                  <a:pt x="277106" y="615095"/>
                </a:cubicBezTo>
                <a:cubicBezTo>
                  <a:pt x="280058" y="612143"/>
                  <a:pt x="282272" y="608453"/>
                  <a:pt x="282272" y="608453"/>
                </a:cubicBezTo>
                <a:lnTo>
                  <a:pt x="283010" y="606240"/>
                </a:lnTo>
                <a:lnTo>
                  <a:pt x="283010" y="604026"/>
                </a:lnTo>
                <a:cubicBezTo>
                  <a:pt x="283010" y="604026"/>
                  <a:pt x="283748" y="598860"/>
                  <a:pt x="283748" y="597384"/>
                </a:cubicBezTo>
                <a:lnTo>
                  <a:pt x="366401" y="646828"/>
                </a:lnTo>
                <a:lnTo>
                  <a:pt x="378208" y="525802"/>
                </a:lnTo>
                <a:lnTo>
                  <a:pt x="299245" y="446839"/>
                </a:lnTo>
                <a:cubicBezTo>
                  <a:pt x="305149" y="383374"/>
                  <a:pt x="310315" y="315481"/>
                  <a:pt x="310315" y="271941"/>
                </a:cubicBezTo>
                <a:cubicBezTo>
                  <a:pt x="310315" y="235780"/>
                  <a:pt x="303673" y="202572"/>
                  <a:pt x="293342" y="173053"/>
                </a:cubicBezTo>
                <a:cubicBezTo>
                  <a:pt x="262347" y="80807"/>
                  <a:pt x="198882" y="15128"/>
                  <a:pt x="198882" y="15128"/>
                </a:cubicBezTo>
                <a:lnTo>
                  <a:pt x="193716" y="5535"/>
                </a:lnTo>
                <a:close/>
                <a:moveTo>
                  <a:pt x="193716" y="43171"/>
                </a:moveTo>
                <a:cubicBezTo>
                  <a:pt x="206262" y="57192"/>
                  <a:pt x="248326" y="106636"/>
                  <a:pt x="273417" y="181171"/>
                </a:cubicBezTo>
                <a:cubicBezTo>
                  <a:pt x="283010" y="209214"/>
                  <a:pt x="288914" y="239470"/>
                  <a:pt x="288914" y="272679"/>
                </a:cubicBezTo>
                <a:cubicBezTo>
                  <a:pt x="288914" y="315481"/>
                  <a:pt x="283748" y="384850"/>
                  <a:pt x="277106" y="448315"/>
                </a:cubicBezTo>
                <a:cubicBezTo>
                  <a:pt x="277106" y="449791"/>
                  <a:pt x="277106" y="450529"/>
                  <a:pt x="277106" y="452005"/>
                </a:cubicBezTo>
                <a:cubicBezTo>
                  <a:pt x="270465" y="526539"/>
                  <a:pt x="262347" y="592956"/>
                  <a:pt x="262347" y="597384"/>
                </a:cubicBezTo>
                <a:cubicBezTo>
                  <a:pt x="260871" y="598122"/>
                  <a:pt x="259395" y="599598"/>
                  <a:pt x="255706" y="601812"/>
                </a:cubicBezTo>
                <a:cubicBezTo>
                  <a:pt x="246850" y="605502"/>
                  <a:pt x="228401" y="609929"/>
                  <a:pt x="194454" y="609929"/>
                </a:cubicBezTo>
                <a:cubicBezTo>
                  <a:pt x="160508" y="609929"/>
                  <a:pt x="141321" y="605502"/>
                  <a:pt x="132465" y="601812"/>
                </a:cubicBezTo>
                <a:cubicBezTo>
                  <a:pt x="128775" y="600336"/>
                  <a:pt x="126561" y="598860"/>
                  <a:pt x="125823" y="597384"/>
                </a:cubicBezTo>
                <a:cubicBezTo>
                  <a:pt x="125085" y="592956"/>
                  <a:pt x="117706" y="528015"/>
                  <a:pt x="111064" y="453480"/>
                </a:cubicBezTo>
                <a:cubicBezTo>
                  <a:pt x="111064" y="452005"/>
                  <a:pt x="111064" y="450529"/>
                  <a:pt x="110326" y="448315"/>
                </a:cubicBezTo>
                <a:cubicBezTo>
                  <a:pt x="104422" y="384850"/>
                  <a:pt x="99257" y="316219"/>
                  <a:pt x="99257" y="272679"/>
                </a:cubicBezTo>
                <a:cubicBezTo>
                  <a:pt x="99257" y="239470"/>
                  <a:pt x="105160" y="209214"/>
                  <a:pt x="114754" y="181171"/>
                </a:cubicBezTo>
                <a:cubicBezTo>
                  <a:pt x="139107" y="106636"/>
                  <a:pt x="181171" y="57192"/>
                  <a:pt x="193716" y="43171"/>
                </a:cubicBezTo>
                <a:close/>
                <a:moveTo>
                  <a:pt x="150176" y="224711"/>
                </a:moveTo>
                <a:cubicBezTo>
                  <a:pt x="125823" y="249064"/>
                  <a:pt x="125823" y="288176"/>
                  <a:pt x="150176" y="311791"/>
                </a:cubicBezTo>
                <a:cubicBezTo>
                  <a:pt x="174529" y="336144"/>
                  <a:pt x="213641" y="336144"/>
                  <a:pt x="237256" y="311791"/>
                </a:cubicBezTo>
                <a:cubicBezTo>
                  <a:pt x="261609" y="287438"/>
                  <a:pt x="261609" y="248326"/>
                  <a:pt x="237256" y="224711"/>
                </a:cubicBezTo>
                <a:cubicBezTo>
                  <a:pt x="213641" y="200358"/>
                  <a:pt x="173791" y="200358"/>
                  <a:pt x="150176" y="224711"/>
                </a:cubicBezTo>
                <a:close/>
                <a:moveTo>
                  <a:pt x="167150" y="242422"/>
                </a:moveTo>
                <a:cubicBezTo>
                  <a:pt x="181909" y="227663"/>
                  <a:pt x="204786" y="227663"/>
                  <a:pt x="219545" y="242422"/>
                </a:cubicBezTo>
                <a:cubicBezTo>
                  <a:pt x="234304" y="257181"/>
                  <a:pt x="234304" y="280058"/>
                  <a:pt x="219545" y="294818"/>
                </a:cubicBezTo>
                <a:cubicBezTo>
                  <a:pt x="204786" y="309577"/>
                  <a:pt x="181909" y="309577"/>
                  <a:pt x="167150" y="294818"/>
                </a:cubicBezTo>
                <a:cubicBezTo>
                  <a:pt x="152390" y="280058"/>
                  <a:pt x="153128" y="256444"/>
                  <a:pt x="167150" y="242422"/>
                </a:cubicBezTo>
                <a:close/>
                <a:moveTo>
                  <a:pt x="31364" y="535395"/>
                </a:moveTo>
                <a:lnTo>
                  <a:pt x="87449" y="479309"/>
                </a:lnTo>
                <a:cubicBezTo>
                  <a:pt x="91139" y="516208"/>
                  <a:pt x="94829" y="547941"/>
                  <a:pt x="97043" y="570817"/>
                </a:cubicBezTo>
                <a:lnTo>
                  <a:pt x="37267" y="606240"/>
                </a:lnTo>
                <a:lnTo>
                  <a:pt x="31364" y="535395"/>
                </a:lnTo>
                <a:close/>
                <a:moveTo>
                  <a:pt x="140583" y="629117"/>
                </a:moveTo>
                <a:cubicBezTo>
                  <a:pt x="153866" y="632068"/>
                  <a:pt x="170101" y="634282"/>
                  <a:pt x="193716" y="634282"/>
                </a:cubicBezTo>
                <a:cubicBezTo>
                  <a:pt x="217331" y="634282"/>
                  <a:pt x="234304" y="632068"/>
                  <a:pt x="246850" y="629117"/>
                </a:cubicBezTo>
                <a:lnTo>
                  <a:pt x="239470" y="659373"/>
                </a:lnTo>
                <a:cubicBezTo>
                  <a:pt x="239470" y="659373"/>
                  <a:pt x="239470" y="659373"/>
                  <a:pt x="237256" y="660111"/>
                </a:cubicBezTo>
                <a:cubicBezTo>
                  <a:pt x="232091" y="662325"/>
                  <a:pt x="219545" y="665277"/>
                  <a:pt x="193716" y="665277"/>
                </a:cubicBezTo>
                <a:cubicBezTo>
                  <a:pt x="167887" y="665277"/>
                  <a:pt x="155342" y="662325"/>
                  <a:pt x="150176" y="660111"/>
                </a:cubicBezTo>
                <a:cubicBezTo>
                  <a:pt x="148700" y="659373"/>
                  <a:pt x="148700" y="659373"/>
                  <a:pt x="147962" y="659373"/>
                </a:cubicBezTo>
                <a:lnTo>
                  <a:pt x="140583" y="629117"/>
                </a:lnTo>
                <a:close/>
                <a:moveTo>
                  <a:pt x="299984" y="479309"/>
                </a:moveTo>
                <a:lnTo>
                  <a:pt x="356069" y="535395"/>
                </a:lnTo>
                <a:lnTo>
                  <a:pt x="349427" y="606240"/>
                </a:lnTo>
                <a:lnTo>
                  <a:pt x="290390" y="570817"/>
                </a:lnTo>
                <a:cubicBezTo>
                  <a:pt x="292604" y="547941"/>
                  <a:pt x="296294" y="516946"/>
                  <a:pt x="299984" y="479309"/>
                </a:cubicBezTo>
                <a:close/>
                <a:moveTo>
                  <a:pt x="146486" y="703651"/>
                </a:moveTo>
                <a:cubicBezTo>
                  <a:pt x="143535" y="728742"/>
                  <a:pt x="131727" y="743502"/>
                  <a:pt x="131727" y="766378"/>
                </a:cubicBezTo>
                <a:cubicBezTo>
                  <a:pt x="131727" y="778186"/>
                  <a:pt x="135417" y="790731"/>
                  <a:pt x="143535" y="804015"/>
                </a:cubicBezTo>
                <a:cubicBezTo>
                  <a:pt x="151652" y="818036"/>
                  <a:pt x="164935" y="833533"/>
                  <a:pt x="184861" y="853458"/>
                </a:cubicBezTo>
                <a:lnTo>
                  <a:pt x="193716" y="862314"/>
                </a:lnTo>
                <a:lnTo>
                  <a:pt x="202572" y="853458"/>
                </a:lnTo>
                <a:cubicBezTo>
                  <a:pt x="242422" y="813609"/>
                  <a:pt x="255706" y="787041"/>
                  <a:pt x="255706" y="763426"/>
                </a:cubicBezTo>
                <a:cubicBezTo>
                  <a:pt x="255706" y="739812"/>
                  <a:pt x="243898" y="724314"/>
                  <a:pt x="240946" y="703651"/>
                </a:cubicBezTo>
                <a:lnTo>
                  <a:pt x="216593" y="707341"/>
                </a:lnTo>
                <a:cubicBezTo>
                  <a:pt x="221021" y="733908"/>
                  <a:pt x="230615" y="749405"/>
                  <a:pt x="231352" y="764165"/>
                </a:cubicBezTo>
                <a:cubicBezTo>
                  <a:pt x="231352" y="776710"/>
                  <a:pt x="221759" y="795897"/>
                  <a:pt x="194454" y="826154"/>
                </a:cubicBezTo>
                <a:cubicBezTo>
                  <a:pt x="181909" y="812870"/>
                  <a:pt x="170839" y="800325"/>
                  <a:pt x="165674" y="791470"/>
                </a:cubicBezTo>
                <a:cubicBezTo>
                  <a:pt x="159032" y="780400"/>
                  <a:pt x="157556" y="773758"/>
                  <a:pt x="157556" y="767116"/>
                </a:cubicBezTo>
                <a:cubicBezTo>
                  <a:pt x="157556" y="753833"/>
                  <a:pt x="167887" y="737598"/>
                  <a:pt x="171577" y="707341"/>
                </a:cubicBezTo>
                <a:lnTo>
                  <a:pt x="146486" y="703651"/>
                </a:lnTo>
                <a:close/>
                <a:moveTo>
                  <a:pt x="238732" y="661587"/>
                </a:moveTo>
                <a:lnTo>
                  <a:pt x="238732" y="663063"/>
                </a:lnTo>
                <a:cubicBezTo>
                  <a:pt x="237994" y="662325"/>
                  <a:pt x="238732" y="662325"/>
                  <a:pt x="238732" y="66158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="ctr"/>
          <a:lstStyle/>
          <a:p>
            <a:endParaRPr lang="en-US" sz="1799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5D0C56-3BA5-487F-850D-EDB088C973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91FCB5-969A-4197-B988-F9A8763360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35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Product benefits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/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9" name="Diagram 2" descr="Drop pin timeline SmartArt graphic&#10;">
            <a:extLst>
              <a:ext uri="{FF2B5EF4-FFF2-40B4-BE49-F238E27FC236}">
                <a16:creationId xmlns:a16="http://schemas.microsoft.com/office/drawing/2014/main" id="{3FBEBE7D-0B6F-4C93-0F2F-3EBC3855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877905"/>
              </p:ext>
            </p:extLst>
          </p:nvPr>
        </p:nvGraphicFramePr>
        <p:xfrm>
          <a:off x="6130924" y="2057400"/>
          <a:ext cx="5486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2E986-9D7B-19D4-F7A1-31FE3C36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/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03AEAB34-C5C5-047F-2BA9-1FF4065F637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330361345"/>
              </p:ext>
            </p:extLst>
          </p:nvPr>
        </p:nvGraphicFramePr>
        <p:xfrm>
          <a:off x="6094413" y="2286000"/>
          <a:ext cx="5559424" cy="3962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76599">
                  <a:extLst>
                    <a:ext uri="{9D8B030D-6E8A-4147-A177-3AD203B41FA5}">
                      <a16:colId xmlns:a16="http://schemas.microsoft.com/office/drawing/2014/main" val="3783183161"/>
                    </a:ext>
                  </a:extLst>
                </a:gridCol>
                <a:gridCol w="2282825">
                  <a:extLst>
                    <a:ext uri="{9D8B030D-6E8A-4147-A177-3AD203B41FA5}">
                      <a16:colId xmlns:a16="http://schemas.microsoft.com/office/drawing/2014/main" val="1268232625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76910424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917549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10,000 user 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23364742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Strategic partnership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2175112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Campaign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884551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Areas of growth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D5FD-27C3-4342-BE41-F411CB8D6931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766499313"/>
              </p:ext>
            </p:extLst>
          </p:nvPr>
        </p:nvGraphicFramePr>
        <p:xfrm>
          <a:off x="1293813" y="2743200"/>
          <a:ext cx="10361616" cy="3352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0404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590404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2590404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590404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Revenue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Expenses($)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Net Profit($)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$400,000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 dirty="0"/>
              <a:t>Competitive landscape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 dirty="0"/>
              <a:t>Summary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315</TotalTime>
  <Words>1913</Words>
  <Application>Microsoft Macintosh PowerPoint</Application>
  <PresentationFormat>Custom</PresentationFormat>
  <Paragraphs>236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Palatino Linotype</vt:lpstr>
      <vt:lpstr>Custom</vt:lpstr>
      <vt:lpstr>AI Platform Strategy</vt:lpstr>
      <vt:lpstr>AGENDA</vt:lpstr>
      <vt:lpstr>ORGANIZATIONAL AI PLATFORM NORTH STAR  (6 months, incl. current quarter)</vt:lpstr>
      <vt:lpstr>NORTH STAR - INTERNAL</vt:lpstr>
      <vt:lpstr>Business Value</vt:lpstr>
      <vt:lpstr>Platform: Modular, Resilient AI Management Layer</vt:lpstr>
      <vt:lpstr>Platform: Modular, Resilient AI Management Layer</vt:lpstr>
      <vt:lpstr>Agents: Per-Team, Isolated, Governed Autonomy</vt:lpstr>
      <vt:lpstr>Agents: Per-Team, Isolated, Governed Autonomy</vt:lpstr>
      <vt:lpstr>Business Value</vt:lpstr>
      <vt:lpstr>Data: Secure, Governed, Compliant Foundation</vt:lpstr>
      <vt:lpstr>DATA PLATFORM</vt:lpstr>
      <vt:lpstr>Data Strategy Platform Overview</vt:lpstr>
      <vt:lpstr>Data: Secure, Governed, Compliant Foundation</vt:lpstr>
      <vt:lpstr>AI PLATFORM</vt:lpstr>
      <vt:lpstr>Platform Overview</vt:lpstr>
      <vt:lpstr>AI Platform Overview</vt:lpstr>
      <vt:lpstr>Architecture: Platform + Agents</vt:lpstr>
      <vt:lpstr>The Autonomous AI Agents (The Spokes)</vt:lpstr>
      <vt:lpstr>The Core AI Platform (The Hub)</vt:lpstr>
      <vt:lpstr>Security &amp; Compliance</vt:lpstr>
      <vt:lpstr>Per-Team Data &amp; Agent Design</vt:lpstr>
      <vt:lpstr>The Two-Quarter Plan: A Roadmap to Revenue</vt:lpstr>
      <vt:lpstr>Add a Slide Title - 1</vt:lpstr>
      <vt:lpstr>Product benefits</vt:lpstr>
      <vt:lpstr>Growth strategy</vt:lpstr>
      <vt:lpstr>Traction</vt:lpstr>
      <vt:lpstr>Areas of growth</vt:lpstr>
      <vt:lpstr>Competitive landscape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Ravula</dc:creator>
  <cp:lastModifiedBy>Venkata Ravula</cp:lastModifiedBy>
  <cp:revision>3</cp:revision>
  <dcterms:created xsi:type="dcterms:W3CDTF">2025-08-27T14:43:26Z</dcterms:created>
  <dcterms:modified xsi:type="dcterms:W3CDTF">2025-08-27T19:59:17Z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